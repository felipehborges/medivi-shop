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afe878ee5043c7" /><Relationship Type="http://schemas.openxmlformats.org/officeDocument/2006/relationships/extended-properties" Target="/docProps/app.xml" Id="R311d10b95926400d" /><Relationship Type="http://schemas.openxmlformats.org/officeDocument/2006/relationships/officeDocument" Target="/ppt/presentation.xml" Id="R05a44d04d4f244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744cc972264ae2"/>
  </p:sldMasterIdLst>
  <p:notesMasterIdLst>
    <p:notesMasterId xmlns:r="http://schemas.openxmlformats.org/officeDocument/2006/relationships" r:id="R51d49390914247b1"/>
  </p:notesMasterIdLst>
  <p:sldIdLst>
    <p:sldId xmlns:r="http://schemas.openxmlformats.org/officeDocument/2006/relationships" id="256" r:id="Reb7c41a2b29a45df"/>
    <p:sldId xmlns:r="http://schemas.openxmlformats.org/officeDocument/2006/relationships" id="257" r:id="Ra704ae04397546e7"/>
  </p:sldIdLst>
  <p:sldSz cx="7562088" cy="10689336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e1ad9e8c1e4551" /><Relationship Type="http://schemas.openxmlformats.org/officeDocument/2006/relationships/slideMaster" Target="/ppt/slideMasters/slideMaster1.xml" Id="Rb5744cc972264ae2" /><Relationship Type="http://schemas.openxmlformats.org/officeDocument/2006/relationships/notesMaster" Target="/ppt/notesMasters/notesMaster1.xml" Id="R51d49390914247b1" /><Relationship Type="http://schemas.openxmlformats.org/officeDocument/2006/relationships/presProps" Target="/ppt/presProps.xml" Id="R932747f0216b4565" /><Relationship Type="http://schemas.openxmlformats.org/officeDocument/2006/relationships/viewProps" Target="/ppt/viewProps.xml" Id="R70f66657c21f4236" /><Relationship Type="http://schemas.openxmlformats.org/officeDocument/2006/relationships/tableStyles" Target="/ppt/tableStyles.xml" Id="R62626d82203e45a2" /><Relationship Type="http://schemas.openxmlformats.org/officeDocument/2006/relationships/slide" Target="/ppt/slides/slide1.xml" Id="Reb7c41a2b29a45df" /><Relationship Type="http://schemas.openxmlformats.org/officeDocument/2006/relationships/slide" Target="/ppt/slides/slide2.xml" Id="Ra704ae04397546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3ac81b7ae048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0854a02f6e42f0" /><Relationship Type="http://schemas.openxmlformats.org/officeDocument/2006/relationships/notesMaster" Target="/ppt/notesMasters/notesMaster1.xml" Id="R01ccb3f3f86e4d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f7dd17f7934ae5" /><Relationship Type="http://schemas.openxmlformats.org/officeDocument/2006/relationships/notesMaster" Target="/ppt/notesMasters/notesMaster1.xml" Id="R7dd0f2067e494d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Produto de origem: Garnier SkinActive Sérum Booster Anti-Marcas com Vitamina C. A página oficial informa Vitamina C, niacinamida, extrato de limão e ácido salicílico na fórmula. Fonte: https://www.garnier.com.br/loja/pele/necessidade/hidratacao/serum-garnier-antimarcas-com-vitamina-c (acesso em 15 set. 2026). A versão Derma C+ Corretor é uma proposta conceitual.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L’Oréal Brasil posiciona Garnier em Produtos de Grande Público e descreve Beleza Dermatológica como uma divisão de soluções de alta eficácia, com presença em farmácias, drogarias e canais exclusivos. Fonte: https://www.loreal.com/pt-br/brazil/news/grupo/conheca-as-24-marcas-que-fazem-parte-do-grupo-loreal/ (acesso em 15 set. 2026). Embalagem, validação, canais e resultados apresentados são decisões e hipóteses da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4a999fd514c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e1cfd7d6e4d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1024e418746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41aee5fcf40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6b9d6610345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7b240d022438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cd088dfc0470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60e1e30df4b3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5f1593b17422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2133c3a954f4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912bac8984f1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D6AA50-3914-41A4-B1B5-424CE97F2D8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8A6DEAC-A737-4EDC-B365-95FF3EE8C8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54E5BB-DB8A-40C4-9913-DBC7A1203A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7DE8D7-F63F-4915-822C-34316004EE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6104F0-1B21-4EC7-8FAD-94EB2ED779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CDCC50-5C7E-40D8-91A3-35F6ECC48F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D4264A7-7582-4C95-9381-9FEDCE13F7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2C5598-F14B-40C1-95B5-67B3247F65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CBEAA9D-67CB-471B-AD3F-0BE42E84E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603D19-6A19-4655-A2D2-A06DA58F7E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4466E2-6EA2-48C4-884F-434CD144B8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B6974F-1833-4740-BC3B-C0D935566D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09899BB-67A8-48CF-A8C1-775ACE3A36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3775D9-EB0D-4195-B538-09C33B5D13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18CCE7-4CAC-4811-B1E4-BC039264B8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36D514-E930-418A-8B74-60CE71F04A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EF44EE-BF7A-405E-86F9-EEAF4F0FD9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F81E2E3-E578-4E61-9A67-7268F359F1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5E87804-E37E-4730-8EDB-2B79E809B5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9687A6A-3C81-4F11-A6D5-81B7DF096D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EEF52CD-FDFE-48C2-8238-049A0EF99E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2A456E-4716-4558-9222-2F71C1A4C2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0FC45D-485A-4648-B19C-63A77F5977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5BD61A3-E929-4053-A83B-394CFABDC61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33920BA-2164-4A55-AD6E-78600D00CB7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B69BBAE-23FB-4F14-83D3-E382B2CEFF0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723C4BA-127A-495B-A2B0-B91F5AC80B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AED4982-572C-4A00-B4E0-F99C2A163C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EB5B842-1AAC-4B83-A638-9D28A9D7E4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017C14-6262-4BC6-ADFF-9110C2AB5A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DDE3E61-BCB0-4801-8359-220A62AC8E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4CE5A2C-21FD-4732-9A53-B1FA5B1964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635BFD9-4647-4534-A736-82505E88A3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5910B6D-CBEC-46F6-A97C-8A409CFD16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FB713C0-A92F-42EA-A044-0D214D7E4D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AE97068-51E5-46EF-9D80-1A0714CAC1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1B3D2C-B736-4CEB-81C4-3A43ED5EB9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6EE2A0-DEEC-406B-9256-1F5AED3C15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755ADC4-744A-4A78-B45B-BECB9843F1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B88D30-B2F3-43A9-B9DB-ADF0DC0752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57F2E42-275A-4ED3-B819-D512F5A563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9A549A-FC17-4926-BB49-73F060D315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1DED9A-CBC5-47AB-A68E-C8BCDC333E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71E597B-451F-442E-8A0A-9A5734DD71D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6356BBE-57F1-4339-8876-A3DD1A8BD6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326B007-73EF-4258-BC08-2B4C22DD37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CC6D76A-2A89-4D17-ADD0-6D7DE0D38A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EFC70E2-B030-4CB1-9817-388ECAB9E3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BFE703-40BF-4EF0-AE3B-CEDFA466CB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E045670-D110-4782-B3D0-91E7DDEAF6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D90FFEE-AC04-4EF9-9058-793B26EF7C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4DED5-6450-4A11-8631-975C50CF74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D28376-71B0-4E4C-8B5B-16CB832B27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4D04957-50E8-41EE-B840-E4C74BD72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240135-183A-4A2C-AF57-AA8EF681DC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15A217-CF96-47AB-82C3-A29A7AE012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FD55D95-6B14-495D-873F-1F0086568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57D312C-7DBB-46BD-BB0C-AA6ED9C0E5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9d7997b98842c3" /><Relationship Type="http://schemas.openxmlformats.org/officeDocument/2006/relationships/slideLayout" Target="/ppt/slideLayouts/slideLayout1.xml" Id="R32127bc8f6d54070" /><Relationship Type="http://schemas.openxmlformats.org/officeDocument/2006/relationships/slideLayout" Target="/ppt/slideLayouts/slideLayout2.xml" Id="Rd08f8bb093a94edf" /><Relationship Type="http://schemas.openxmlformats.org/officeDocument/2006/relationships/slideLayout" Target="/ppt/slideLayouts/slideLayout3.xml" Id="R7cddaa9f29d24fb5" /><Relationship Type="http://schemas.openxmlformats.org/officeDocument/2006/relationships/slideLayout" Target="/ppt/slideLayouts/slideLayout4.xml" Id="Rdd49efafee55446e" /><Relationship Type="http://schemas.openxmlformats.org/officeDocument/2006/relationships/slideLayout" Target="/ppt/slideLayouts/slideLayout5.xml" Id="Rabc4e4f7e5304962" /><Relationship Type="http://schemas.openxmlformats.org/officeDocument/2006/relationships/slideLayout" Target="/ppt/slideLayouts/slideLayout6.xml" Id="Rd8efda7d53094d76" /><Relationship Type="http://schemas.openxmlformats.org/officeDocument/2006/relationships/slideLayout" Target="/ppt/slideLayouts/slideLayout7.xml" Id="Rb2809d964b324518" /><Relationship Type="http://schemas.openxmlformats.org/officeDocument/2006/relationships/slideLayout" Target="/ppt/slideLayouts/slideLayout8.xml" Id="R7e440eb2888645e9" /><Relationship Type="http://schemas.openxmlformats.org/officeDocument/2006/relationships/slideLayout" Target="/ppt/slideLayouts/slideLayout9.xml" Id="Rdbda7384b9eb40a1" /><Relationship Type="http://schemas.openxmlformats.org/officeDocument/2006/relationships/slideLayout" Target="/ppt/slideLayouts/slideLayout10.xml" Id="Rfdd7f38512e2400a" /><Relationship Type="http://schemas.openxmlformats.org/officeDocument/2006/relationships/slideLayout" Target="/ppt/slideLayouts/slideLayout11.xml" Id="R269dae997c9a48a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706248D-02E3-411A-914D-37B71E9637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9ABA9B-BCFF-4AF2-A162-95BD63D52B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8D3D3F-D99B-459E-8700-B4FAF9685E4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5F8262-FE35-4E21-A515-6FA38605EF0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020D65-0A0C-4D88-81CE-A887AFF551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127bc8f6d54070"/>
    <p:sldLayoutId xmlns:r="http://schemas.openxmlformats.org/officeDocument/2006/relationships" id="2147483650" r:id="Rd08f8bb093a94edf"/>
    <p:sldLayoutId xmlns:r="http://schemas.openxmlformats.org/officeDocument/2006/relationships" id="2147483651" r:id="R7cddaa9f29d24fb5"/>
    <p:sldLayoutId xmlns:r="http://schemas.openxmlformats.org/officeDocument/2006/relationships" id="2147483652" r:id="Rdd49efafee55446e"/>
    <p:sldLayoutId xmlns:r="http://schemas.openxmlformats.org/officeDocument/2006/relationships" id="2147483653" r:id="Rabc4e4f7e5304962"/>
    <p:sldLayoutId xmlns:r="http://schemas.openxmlformats.org/officeDocument/2006/relationships" id="2147483654" r:id="Rd8efda7d53094d76"/>
    <p:sldLayoutId xmlns:r="http://schemas.openxmlformats.org/officeDocument/2006/relationships" id="2147483655" r:id="Rb2809d964b324518"/>
    <p:sldLayoutId xmlns:r="http://schemas.openxmlformats.org/officeDocument/2006/relationships" id="2147483656" r:id="R7e440eb2888645e9"/>
    <p:sldLayoutId xmlns:r="http://schemas.openxmlformats.org/officeDocument/2006/relationships" id="2147483657" r:id="Rdbda7384b9eb40a1"/>
    <p:sldLayoutId xmlns:r="http://schemas.openxmlformats.org/officeDocument/2006/relationships" id="2147483658" r:id="Rfdd7f38512e2400a"/>
    <p:sldLayoutId xmlns:r="http://schemas.openxmlformats.org/officeDocument/2006/relationships" id="2147483659" r:id="R269dae997c9a48a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83d2799e8240bc" /><Relationship Type="http://schemas.openxmlformats.org/officeDocument/2006/relationships/notesSlide" Target="/ppt/notesSlides/notesSlide1.xml" Id="R3e09744092d145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201058db4649f0" /><Relationship Type="http://schemas.openxmlformats.org/officeDocument/2006/relationships/notesSlide" Target="/ppt/notesSlides/notesSlide2.xml" Id="R57abdde6aafc42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9E7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185FA3C-C779-4AD4-87BE-DB005E34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37160"/>
            <a:ext cx="7287768" cy="10415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7DF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CD307E9-93A9-4217-9CCF-3C6F0011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38912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L’ORÉAL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BDDD79D-595E-4025-888D-7BE340CC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SEEDZ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084BD27-FEB3-44B5-A7D1-9217D038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03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D143CE6-3B4E-47A6-8796-EB1E5EFF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51560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REIMAGINE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B38CCD5-EAE3-43A2-981C-6C947D5F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481328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UM PRODUTO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35D49C9-3C7E-44F2-8D98-D6EE1781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847088"/>
            <a:ext cx="6217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DA GARNIER PARA A BELEZA DERMATOLÓGICA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24D87C2-B8A7-41EF-9BCD-4FE5386B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14884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>
            <a:solidFill>
              <a:srgbClr val="E3061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066B731-528A-47C1-98E3-D447F73D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194560"/>
            <a:ext cx="13258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GRANDE PÚBLICO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33AB38B-0A4C-4646-BE32-82F08E54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2176272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DFF10BB-284D-4473-B2EA-CCB16150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1" y="2148840"/>
            <a:ext cx="166420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>
            <a:solidFill>
              <a:srgbClr val="1515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13162D3-0879-4AEC-BDE7-CCA0D1C2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1" y="2194560"/>
            <a:ext cx="166420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BELEZA DERMATOLÓGICA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A4BE2EF-4CE6-4140-85D2-EE10EF73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761488"/>
            <a:ext cx="6793992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623A794-C30D-4DDD-AA64-8F247F54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932688" cy="1572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>
            <a:solidFill>
              <a:srgbClr val="1515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3BAEBB5-86CE-4218-9E10-F464FD25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005072"/>
            <a:ext cx="822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E2D8"/>
          </a:solidFill>
          <a:ln xmlns:a="http://schemas.openxmlformats.org/drawingml/2006/main">
            <a:solidFill>
              <a:srgbClr val="E7E2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29FAC69-6568-4094-897E-550E1A8C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16552"/>
            <a:ext cx="768096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>
            <a:solidFill>
              <a:srgbClr val="E3061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97E6637-B0CC-461B-81CC-86CD64F4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62272"/>
            <a:ext cx="7680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GARNIER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C339D59-4DB9-4835-AF85-645092ED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626864"/>
            <a:ext cx="7680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DERMA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A13C4FA-50F4-417C-ADF9-B3600E46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818888"/>
            <a:ext cx="76809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C+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572B11A-5E48-43EC-9A77-8EA6A34E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3127248"/>
            <a:ext cx="2743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GARNIER SKINACTIVE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79F8B12-CC96-4ED8-AD51-76E89D4E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3401568"/>
            <a:ext cx="310896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DERMA C+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1FFE354-CBCB-4A17-B756-18E337A3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384048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 Sérum Booster Anti-Marcas reimaginado como tratamento diário para marcas pós-acne e tom irregular, com protocolo claro e prova de eficácia.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6EE57FD-61C2-4306-9980-8D45395D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4617720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UNIFORMIZA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C2CC0CE-A523-498E-937C-1296FD31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484632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Vitamina C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C69586A-D7F0-43D3-B5FC-6B60E682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617720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FORTALECE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6141A65-4E46-4FAD-8EFB-012C3679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84632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Niacinamida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861DD3C-AEA6-47D8-B80F-CFB4B0C9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4617720"/>
            <a:ext cx="123444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RENOVA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BDE5547-BF74-4EF5-B85C-2A658A86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4846320"/>
            <a:ext cx="128016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Ácido salicílico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D9A65D7F-3F00-4CAA-A66F-21A4D7D6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925312"/>
            <a:ext cx="6793992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>
            <a:solidFill>
              <a:srgbClr val="1515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30F8FEC-3C4E-4B27-9146-DA9A34DA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035040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INSIGHT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CB21EB4-BEFA-4563-A31A-97C8CF35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35040"/>
            <a:ext cx="5715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Quem começou no skincare acessível passa a exigir resultados comprovados, sem aceitar uma rotina mais complexa.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FAAA1184-B351-4959-8A25-109BD4C3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656832"/>
            <a:ext cx="2203703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E1B9B73-1E9F-43BE-A327-1763E7A2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39712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O CONSUMIDOR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460BAFA-8106-452C-ABC5-0BE4A9CF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50608"/>
            <a:ext cx="1965959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Já conhece ativos e compara fórmulas, mas ainda quer orientação simples, preço alcançável e uso diário.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F5CD3AE0-41FB-46CA-A3B1-9D16ADB4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1" y="6656832"/>
            <a:ext cx="2203703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C88E184C-8FD1-4F89-8B56-B7C31B17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6839712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A PROMESSA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3231926-8942-42D6-8093-B16ECB85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7150608"/>
            <a:ext cx="1965959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Correção de marcas com tolerância comprovada, orientação de uso e preço de entrada na categoria.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2B645F82-2DCA-4980-A10E-06F51608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6656832"/>
            <a:ext cx="2203703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0BF3D3D9-A896-4CAD-89E3-30EFB52C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6839712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O DIFERENCIAL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5B5616E-9234-4700-BDDD-19D545DE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7150608"/>
            <a:ext cx="1965959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 porta de entrada da Beleza Dermatológica: rigor de prova e linguagem simples, sem competir com tratamentos especializados.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C9BF3E7-3F4A-4BCC-AFEB-3401E254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241280"/>
            <a:ext cx="6217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REIMAGINE UM PRODUTO  |  PROPOSTA CONCEITUAL</a:t>
            </a:r>
          </a:p>
        </p:txBody>
      </p:sp>
    </p:spTree>
    <p:extLst>
      <p:ext uri="{BB962C8B-B14F-4D97-AF65-F5344CB8AC3E}">
        <p14:creationId xmlns:p14="http://schemas.microsoft.com/office/powerpoint/2010/main" val="530486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9E7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E4827675-8D30-485B-AB4E-3AA15BC3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37160"/>
            <a:ext cx="7287768" cy="10415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7DF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4920527-98A1-46E7-99C4-EB7DABA8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38912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L’ORÉAL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48E8A01-4ABF-44D1-BBD1-D951B91D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SEEDZ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5D2F9B2-8633-4422-A965-CB3E5894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03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79C51-9AAD-48D3-B960-8EED0193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51560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DA IDEIA À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BE7C2F8-2258-4270-A9D5-60DF5B9D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481328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ESTRATÉGIA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B67BBD2-EFC2-4703-8D66-344F97D5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847088"/>
            <a:ext cx="4389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COMO A PROPOSTA CRIA VALOR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C623569-49AA-441B-9F3B-694A0F8F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240280"/>
            <a:ext cx="6793992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B1FDC6F-CA33-4DFE-AC20-FE2203A6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87168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DECISÕES ESTRATÉGICAS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805B37-DD8B-4439-B92B-A6B3EF78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90779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O QUE PERMANECE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E009415-3ABA-48CD-B8FC-6F963B20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136392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Preço alcançável, textura leve, uso diário e linguagem direta. Vitamina C e niacinamida continuam no centro da fórmula.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D3C4398-095A-453B-B8F7-5F290E2B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0779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O QUE MUDA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D8DD3D-E451-4709-AEA9-B28E277F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36392"/>
            <a:ext cx="27432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Validação clínica, avaliação de tolerância e embalagem airless. A venda migra para farmácias e e-commerce com orientação especializada.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BD6A693-E31E-4664-A960-8A2AC23A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68496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GARNIER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E33B77C-4A0C-4E93-8513-E1378401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93192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8129394-C7BA-43F9-BDA5-D18F1262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968496"/>
            <a:ext cx="141732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DERMA C+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A16CF91-B2BF-458F-8868-610D7FD5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93192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AEE4BCC-48BB-4D30-B660-9E70CF73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968496"/>
            <a:ext cx="24688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ENTRADA EM DERMOCOSMÉTICOS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81C07C2-B642-4406-B3A4-A308F6FE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187952"/>
            <a:ext cx="6217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 nova proposta acompanha o consumidor que busca mais eficácia, sem abandonar a simplicidade que o trouxe à Garnier.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632FCE0-9FF0-4649-8C47-8DDCE859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709160"/>
            <a:ext cx="6793992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>
            <a:solidFill>
              <a:srgbClr val="1515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1379AD3-E019-4BB1-88C4-0D90BC70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82896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CAMPANHA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4149A27-C911-4308-B287-EA20D475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120640"/>
            <a:ext cx="365760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MARCAS VISÍVEIS.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8409EB1-394A-4CF3-B9A7-1126A0E2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321808"/>
            <a:ext cx="384048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ROTINA SIMPLES.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7D37B5F-A73E-4F1A-BDD5-9223AAA5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120640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EFICÁCIA CLÍNICA.
ROTINA SIMPLES.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B43AD7DA-74A0-4283-AB28-4CE6D2C0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833872"/>
            <a:ext cx="2203703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6C02856-925F-42E5-BD50-3A958338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53328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IMPACTOS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92C8D51-CA91-42E3-9857-719BC875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37376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CONSUMIDOR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D0D0ADF-9195-40D5-9AA7-5553F3ED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620256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Mais segurança na escolha, instruções claras e uma rotina simples para tratar marcas.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5A48D37-9498-4953-AFCA-900B692B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278624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GARNIER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C375D09-3D40-4145-866A-BD802476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461504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Maior ticket médio e credibilidade no canal farma, com uma porta de entrada para a categoria.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0646C57-82A6-47ED-9968-65FAB132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119872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L’ORÉAL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67FE402-8FFD-4B83-8998-50904058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302752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Retém o consumidor antes que ele migre para marcas dermatológicas fora do grupo.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2CEE8806-C5AF-4302-9FF7-4B2A65C3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1" y="5833872"/>
            <a:ext cx="2203703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690D4F7-3224-42B2-B928-34C7B4B3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6053328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RISCOS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63C9D3DB-7F6E-47C2-8D1E-16C3236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6437376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IDENTIDADE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2BA3C6C-A84A-4BFF-A3B3-CD32E2E2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6620256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 linguagem clínica pode enfraquecer o vínculo acessível e próximo da Garnier.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87D32DC-326D-4D3B-BDDD-1E258F6E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7278624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CANIBALIZAÇÃO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AD46635-044A-41FA-A5C8-136610D0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7461504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 nova linha pode sobrepor ofertas de CeraVe, Vichy e La Roche-Posay.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D990BDA6-E34A-4221-894E-D5AC8B97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8119872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PROMESSA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7126E84-35BC-4152-B5EE-534402A2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8302752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Claims exigem estudos robustos, avaliação de tolerância e comunicação regulatória precisa.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C82124DA-76ED-4288-A178-079C0684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5833872"/>
            <a:ext cx="2203703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0AAD4378-3147-408D-98D8-13D86EAD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6053328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RESULTADOS ESPERADOS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288A758-C280-4F7D-B4C2-E87B3485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6437376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NEGÓCIO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0C02AF8E-B69B-4472-962F-D139A80E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6620256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Trade-up dentro da marca, com margem e ticket maiores sem abandonar o preço de entrada.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109D1FC-B115-4D88-8FBA-D393BA2D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7278624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MARCA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C694C560-FED7-4F69-9EF2-930D5E19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7461504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Maior associação da Garnier com eficácia comprovada e cuidado dermatológico acessível.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24883EA9-0ED5-4051-A804-0B0235D8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8119872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CONSUMIDOR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33983F08-C92E-40EF-90F4-36451457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8302752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Mais retenção e uma progressão clara para soluções especializadas do portfólio L’Oréal.</a:t>
            </a: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4F8A0656-88CA-4337-9031-1221DE50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9326880"/>
            <a:ext cx="6793992" cy="4846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>
            <a:solidFill>
              <a:srgbClr val="E3061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BD88007-842A-4A9C-B889-101A4D32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9482328"/>
            <a:ext cx="6793992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DERMOCOSMÉTICO DE ENTRADA, COM A SIMPLICIDADE DA GARNIER.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419CD9AA-3752-41BD-85DC-C8FD5FF6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241280"/>
            <a:ext cx="6217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REIMAGINE UM PRODUTO  |  GARNIER → BELEZA DERMATOLÓGICA</a:t>
            </a:r>
          </a:p>
        </p:txBody>
      </p:sp>
    </p:spTree>
    <p:extLst>
      <p:ext uri="{BB962C8B-B14F-4D97-AF65-F5344CB8AC3E}">
        <p14:creationId xmlns:p14="http://schemas.microsoft.com/office/powerpoint/2010/main" val="4610968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2026-09-15T19:53:48.1250000Z</dcterms:created>
  <dcterms:modified xsi:type="dcterms:W3CDTF">2026-09-15T19:53:48.1250000Z</dcterms:modified>
</coreProperties>
</file>