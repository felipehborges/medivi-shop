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ca7c06b72e34f70" /><Relationship Type="http://schemas.openxmlformats.org/officeDocument/2006/relationships/extended-properties" Target="/docProps/app.xml" Id="R943cdf5ff7564ec4" /><Relationship Type="http://schemas.openxmlformats.org/officeDocument/2006/relationships/officeDocument" Target="/ppt/presentation.xml" Id="R63b749707712476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e93ee4befee4066"/>
  </p:sldMasterIdLst>
  <p:notesMasterIdLst>
    <p:notesMasterId xmlns:r="http://schemas.openxmlformats.org/officeDocument/2006/relationships" r:id="R5e8473da1ae246d3"/>
  </p:notesMasterIdLst>
  <p:sldIdLst>
    <p:sldId xmlns:r="http://schemas.openxmlformats.org/officeDocument/2006/relationships" id="256" r:id="R8a9d1e671b634e05"/>
    <p:sldId xmlns:r="http://schemas.openxmlformats.org/officeDocument/2006/relationships" id="257" r:id="R652a80aaa42c4202"/>
  </p:sldIdLst>
  <p:sldSz cx="7562088" cy="10689336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e56e661f77a42cb" /><Relationship Type="http://schemas.openxmlformats.org/officeDocument/2006/relationships/slideMaster" Target="/ppt/slideMasters/slideMaster1.xml" Id="R3e93ee4befee4066" /><Relationship Type="http://schemas.openxmlformats.org/officeDocument/2006/relationships/notesMaster" Target="/ppt/notesMasters/notesMaster1.xml" Id="R5e8473da1ae246d3" /><Relationship Type="http://schemas.openxmlformats.org/officeDocument/2006/relationships/presProps" Target="/ppt/presProps.xml" Id="R4d28c1eb0e614f2d" /><Relationship Type="http://schemas.openxmlformats.org/officeDocument/2006/relationships/viewProps" Target="/ppt/viewProps.xml" Id="R3a290e898a2f4921" /><Relationship Type="http://schemas.openxmlformats.org/officeDocument/2006/relationships/tableStyles" Target="/ppt/tableStyles.xml" Id="R7fbb4d3281844869" /><Relationship Type="http://schemas.openxmlformats.org/officeDocument/2006/relationships/slide" Target="/ppt/slides/slide1.xml" Id="R8a9d1e671b634e05" /><Relationship Type="http://schemas.openxmlformats.org/officeDocument/2006/relationships/slide" Target="/ppt/slides/slide2.xml" Id="R652a80aaa42c420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c88872ed5794f4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f679a4d93c745f9" /><Relationship Type="http://schemas.openxmlformats.org/officeDocument/2006/relationships/notesMaster" Target="/ppt/notesMasters/notesMaster1.xml" Id="Rd54fc4af8af844e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42050c14849457d" /><Relationship Type="http://schemas.openxmlformats.org/officeDocument/2006/relationships/notesMaster" Target="/ppt/notesMasters/notesMaster1.xml" Id="R546e53ba9cbb4ef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Produto de origem: Garnier SkinActive Sérum Booster Anti-Marcas com Vitamina C. A página oficial informa Vitamina C, niacinamida, extrato de limão e ácido salicílico na fórmula. Fonte: https://www.garnier.com.br/loja/pele/necessidade/hidratacao/serum-garnier-antimarcas-com-vitamina-c (acesso em 15 set. 2026). A versão Derma C+ Corretor é uma proposta conceitual.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L’Oréal Brasil posiciona Garnier em Produtos de Grande Público e descreve Beleza Dermatológica como uma divisão de soluções de alta eficácia, com presença em farmácias, drogarias e canais exclusivos. Fonte: https://www.loreal.com/pt-br/brazil/news/grupo/conheca-as-24-marcas-que-fazem-parte-do-grupo-loreal/ (acesso em 15 set. 2026). Embalagem, validação, canais e resultados apresentados são decisões e hipóteses da proposta.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3d551132c9492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9c8d8b1b7e4b8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56abadf0604bb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ebc5b737a94e4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f3e3ce851e4f0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0c645c51364a9f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640db6e4bd4f32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395afe5c564add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64f62ee8bf486f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655a93d9bf4cb1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594bc444d64ec0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52437B5-C092-48D2-9523-DB762107306B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5051A398-A89B-4C4B-BA51-D8C39EAC645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87EF272-84E8-4008-9092-426953B0E9B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C29B665-42BF-4E54-B979-A926869B460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27DB3CF-3918-4E26-8515-2E69C73B2FA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E9F2726-BC23-4E65-A451-989DC17D978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7CC477E-B091-40AD-9005-207C442BC8A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5311248-AC47-4B99-B51E-A5515AC0631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4DC2D4E-FCA7-44A4-B866-AA2E31DE7A7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94A9F21-B1F4-48F0-9062-FE638934F01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70D90C2-BDAF-45CC-BF26-C744A0AEF1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25174D06-F672-4414-90A0-7236DA6FCB4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23DE32F-06CB-4326-AA98-ED9677AF5B5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C773246-AACE-47CA-AE6B-79E2915D8A4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CC37B8C-1394-4D60-AADA-40745675A65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D30C4C8-3DAC-4499-AD0E-98590E3EA37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CF66FBE-C11A-4262-8390-49B95FB497B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8EC2F5D0-42CD-4F1D-9E3B-78469CF9C938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3B273A67-AB60-44AA-8386-A6DF8670ADA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82793E0E-8E6F-4463-B4E7-AF5E8BC1AF8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5ED77761-9F5F-48AA-920B-F923C38E27D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1CC35DC-F5EF-4E83-9FFC-B29109802E7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277C629-57D3-4034-91C2-E580B9DCE42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106CB4FE-5415-4673-8FD2-145A7A3C03CE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CBA96AD8-A095-4206-B54C-B93F0D1E90ED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E7CF6642-3A62-45AE-BFDE-42982A939C95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05FA6C48-4A3B-403D-8A26-A4B0BCADB03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0B61802A-1089-4B19-BB25-36D390C384D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95FAC5AD-94FE-4765-8BA4-86F8E2FC2FB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4EF91A5-8EFD-46A7-B456-B242900A115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2D5213EF-7981-498D-881D-7CA83113457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0347C25E-2955-4960-8E1A-6287B890BD9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C202F7CE-9F92-4DA9-9C48-99737C4EC15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3692CCBE-B965-466E-B647-D78A848F3BE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0D98BC00-CB83-40AA-8930-D547CD4E2B2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570B887F-6C3B-43B3-8A5F-E792ACE3CB6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F4D8A13-72D3-4560-9C4E-2FD172B754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040CA32-89AC-4254-AF97-3A6DC0D066C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4F71071-DB15-405C-A58A-5CD2B13C07E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A76AE243-8625-46EF-80E0-A6683AFB4B8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078DD4C2-83EA-4BB5-BAB5-00C20058110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6FDF0BD3-9FE9-494A-875E-E290FEEF221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11772AB-FB15-4C28-9556-865D3CDDA2E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40F1F681-649D-4AFC-88BE-0758044E97F0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A505E715-162F-45F6-8815-582407AADF7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8E3017D3-7641-49B2-AEA6-F16E2C2BF22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5B83133C-C0EE-4A5E-8E6E-9653C35C504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5AEDDCFF-C781-4851-AD32-C6F74938E89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905E70A-B21E-420B-8353-08E17DB79CF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BE1856F3-240A-408A-BA2D-72DD4917C1E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0A14135-8267-403E-A03B-B113F0BDA58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E5060C8-5563-481A-BFB4-632E29D7665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08CACFB-24C1-45C7-AC68-93B67510202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4EC0AA99-5817-4FFA-8DE3-E96D67DCFA4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C678D257-23B1-4030-9266-74FB7CC8A7F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3D215B5-6192-40F3-960A-AE79FC1AEAB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CE27393-B4AE-43E0-8667-FC55706DF56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E75EC37-4B0C-4585-98F7-0B0BF73C315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d896b9a54e44d14" /><Relationship Type="http://schemas.openxmlformats.org/officeDocument/2006/relationships/slideLayout" Target="/ppt/slideLayouts/slideLayout1.xml" Id="R4b2f5bb4c5164a58" /><Relationship Type="http://schemas.openxmlformats.org/officeDocument/2006/relationships/slideLayout" Target="/ppt/slideLayouts/slideLayout2.xml" Id="Rd0621a1a053d45a7" /><Relationship Type="http://schemas.openxmlformats.org/officeDocument/2006/relationships/slideLayout" Target="/ppt/slideLayouts/slideLayout3.xml" Id="Rf99b02f5b2614259" /><Relationship Type="http://schemas.openxmlformats.org/officeDocument/2006/relationships/slideLayout" Target="/ppt/slideLayouts/slideLayout4.xml" Id="R0add242a2ab94520" /><Relationship Type="http://schemas.openxmlformats.org/officeDocument/2006/relationships/slideLayout" Target="/ppt/slideLayouts/slideLayout5.xml" Id="R72fdeaee81394af5" /><Relationship Type="http://schemas.openxmlformats.org/officeDocument/2006/relationships/slideLayout" Target="/ppt/slideLayouts/slideLayout6.xml" Id="R2c97504c56b64c5a" /><Relationship Type="http://schemas.openxmlformats.org/officeDocument/2006/relationships/slideLayout" Target="/ppt/slideLayouts/slideLayout7.xml" Id="R591a835b7fef4ff7" /><Relationship Type="http://schemas.openxmlformats.org/officeDocument/2006/relationships/slideLayout" Target="/ppt/slideLayouts/slideLayout8.xml" Id="R2ab6cc0d6ab14968" /><Relationship Type="http://schemas.openxmlformats.org/officeDocument/2006/relationships/slideLayout" Target="/ppt/slideLayouts/slideLayout9.xml" Id="R58949a050ced4d61" /><Relationship Type="http://schemas.openxmlformats.org/officeDocument/2006/relationships/slideLayout" Target="/ppt/slideLayouts/slideLayout10.xml" Id="Rfff57cb92d484a78" /><Relationship Type="http://schemas.openxmlformats.org/officeDocument/2006/relationships/slideLayout" Target="/ppt/slideLayouts/slideLayout11.xml" Id="R814320f5744c4413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DE7BCBDE-06AF-41CD-AE3E-FE695D2BCE0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9B18BE6-4AC9-4A2E-8A4C-7AFCAF78F31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AF92B65-33B2-42F7-8D27-C1690C66B29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0955721-DB86-45C1-A67E-4CD243371F9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CAC20DB-EDE9-4048-A1B8-78D0AD56FB4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b2f5bb4c5164a58"/>
    <p:sldLayoutId xmlns:r="http://schemas.openxmlformats.org/officeDocument/2006/relationships" id="2147483650" r:id="Rd0621a1a053d45a7"/>
    <p:sldLayoutId xmlns:r="http://schemas.openxmlformats.org/officeDocument/2006/relationships" id="2147483651" r:id="Rf99b02f5b2614259"/>
    <p:sldLayoutId xmlns:r="http://schemas.openxmlformats.org/officeDocument/2006/relationships" id="2147483652" r:id="R0add242a2ab94520"/>
    <p:sldLayoutId xmlns:r="http://schemas.openxmlformats.org/officeDocument/2006/relationships" id="2147483653" r:id="R72fdeaee81394af5"/>
    <p:sldLayoutId xmlns:r="http://schemas.openxmlformats.org/officeDocument/2006/relationships" id="2147483654" r:id="R2c97504c56b64c5a"/>
    <p:sldLayoutId xmlns:r="http://schemas.openxmlformats.org/officeDocument/2006/relationships" id="2147483655" r:id="R591a835b7fef4ff7"/>
    <p:sldLayoutId xmlns:r="http://schemas.openxmlformats.org/officeDocument/2006/relationships" id="2147483656" r:id="R2ab6cc0d6ab14968"/>
    <p:sldLayoutId xmlns:r="http://schemas.openxmlformats.org/officeDocument/2006/relationships" id="2147483657" r:id="R58949a050ced4d61"/>
    <p:sldLayoutId xmlns:r="http://schemas.openxmlformats.org/officeDocument/2006/relationships" id="2147483658" r:id="Rfff57cb92d484a78"/>
    <p:sldLayoutId xmlns:r="http://schemas.openxmlformats.org/officeDocument/2006/relationships" id="2147483659" r:id="R814320f5744c4413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719b9b0798f49a5" /><Relationship Type="http://schemas.openxmlformats.org/officeDocument/2006/relationships/notesSlide" Target="/ppt/notesSlides/notesSlide1.xml" Id="R3bdf5a7a6710484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7907a858ac2464b" /><Relationship Type="http://schemas.openxmlformats.org/officeDocument/2006/relationships/notesSlide" Target="/ppt/notesSlides/notesSlide2.xml" Id="R28882f3b71544e2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E9E7D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4A65CA91-1657-4D77-8E51-BA2753F5B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" y="137160"/>
            <a:ext cx="7287768" cy="1041501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9E7DF"/>
          </a:solidFill>
          <a:ln xmlns:a="http://schemas.openxmlformats.org/drawingml/2006/main">
            <a:solidFill>
              <a:srgbClr val="D8D5C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62CA4C6B-57D3-4CE7-8493-C77E42E29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438912"/>
            <a:ext cx="1280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L’ORÉAL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C1E6C5C1-9218-46BA-A286-1C4125B58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76656"/>
            <a:ext cx="109728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1">
                <a:solidFill>
                  <a:srgbClr val="E30613"/>
                </a:solidFill>
                <a:latin typeface="Arial"/>
                <a:ea typeface="Arial"/>
                <a:cs typeface="Arial"/>
              </a:rPr>
              <a:t>SEEDZ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55CE4B70-6310-46A4-A8DE-466368460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30352"/>
            <a:ext cx="4572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00" b="1">
                <a:solidFill>
                  <a:srgbClr val="E30613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59EE7DC8-47BC-49CF-A4DA-0F4730146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1051560"/>
            <a:ext cx="43891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900" b="1">
                <a:solidFill>
                  <a:srgbClr val="E30613"/>
                </a:solidFill>
                <a:latin typeface="Arial"/>
                <a:ea typeface="Arial"/>
                <a:cs typeface="Arial"/>
              </a:rPr>
              <a:t>REIMAGINE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C9D3388A-DF6E-4075-B707-EFF51B2B2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1481328"/>
            <a:ext cx="43891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900" b="1">
                <a:solidFill>
                  <a:srgbClr val="E30613"/>
                </a:solidFill>
                <a:latin typeface="Arial"/>
                <a:ea typeface="Arial"/>
                <a:cs typeface="Arial"/>
              </a:rPr>
              <a:t>UM PRODUTO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5B8FD6F5-A7EB-4AE5-B90A-002C449DC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1847088"/>
            <a:ext cx="6217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DA GARNIER PARA A BELEZA DERMATOLÓGICA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B2337F7C-2B8B-46FE-A3F6-32164A251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2148840"/>
            <a:ext cx="1325880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30613"/>
          </a:solidFill>
          <a:ln xmlns:a="http://schemas.openxmlformats.org/drawingml/2006/main">
            <a:solidFill>
              <a:srgbClr val="E30613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04B43F7C-BB74-42F3-8859-2D98CD376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2194560"/>
            <a:ext cx="132588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GRANDE PÚBLICO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EBBA3DF2-D9A4-481B-993E-AE68DD582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3936" y="2176272"/>
            <a:ext cx="2743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E30613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50E504A8-43B6-4C7A-953B-D959923D0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4831" y="2148840"/>
            <a:ext cx="1664208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>
            <a:solidFill>
              <a:srgbClr val="15151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AFFBC5E7-8DDD-4968-95E3-18E5509ED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4831" y="2194560"/>
            <a:ext cx="1664208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2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BELEZA DERMATOLÓGICA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3B56EB67-8FF5-4179-9C99-134B733C0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2761488"/>
            <a:ext cx="6793992" cy="2971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FFF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3D3641D7-7D48-4D13-B950-EB43D620F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03320"/>
            <a:ext cx="932688" cy="15727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>
            <a:solidFill>
              <a:srgbClr val="15151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7DD281C3-87B8-462B-82FF-9EFD911E9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4005072"/>
            <a:ext cx="822960" cy="10058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7E2D8"/>
          </a:solidFill>
          <a:ln xmlns:a="http://schemas.openxmlformats.org/drawingml/2006/main">
            <a:solidFill>
              <a:srgbClr val="E7E2D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96088F68-30F9-4538-B071-D3E9217F3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4416552"/>
            <a:ext cx="768096" cy="43891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30613"/>
          </a:solidFill>
          <a:ln xmlns:a="http://schemas.openxmlformats.org/drawingml/2006/main">
            <a:solidFill>
              <a:srgbClr val="E30613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902451D6-27F3-48D8-8C44-FA9C7BBDD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4462272"/>
            <a:ext cx="768096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GARNIER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2C436C3A-82D6-44A5-839C-049ED9F4A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4626864"/>
            <a:ext cx="768096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DERMA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DBE6B96A-4A79-4C25-B204-50C2DB073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4818888"/>
            <a:ext cx="768096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C+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1A1ECE13-DB03-4D2D-B475-6CD103F19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3936" y="3127248"/>
            <a:ext cx="27432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E30613"/>
                </a:solidFill>
                <a:latin typeface="Arial"/>
                <a:ea typeface="Arial"/>
                <a:cs typeface="Arial"/>
              </a:rPr>
              <a:t>GARNIER SKINACTIVE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5CC6194B-3B34-42AD-97D7-22851C0E8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3936" y="3401568"/>
            <a:ext cx="3108960" cy="518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DERMA C+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1386C3BC-BDFB-4C0E-A064-3A2DA95F3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3936" y="3840480"/>
            <a:ext cx="457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19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O Sérum Booster Anti-Marcas reimaginado como tratamento diário para marcas pós-acne e tom irregular, com protocolo claro e prova de eficácia.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6953AB77-5C8B-4D4B-9F74-6567A084C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3936" y="4617720"/>
            <a:ext cx="12344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UNIFORMIZA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CDDE5C34-2DB6-4334-90B1-DADEB107C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3936" y="4846320"/>
            <a:ext cx="128016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5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Vitamina C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2AD0EE51-A4B3-4DF9-BBC0-6C33774AE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4617720"/>
            <a:ext cx="12344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FORTALECE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29D30BEC-AA80-4CA4-9B0D-29D678B55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4846320"/>
            <a:ext cx="128016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5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Niacinamida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1DF42BC2-2049-4BBB-AFB5-D459372EA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424" y="4617720"/>
            <a:ext cx="1234440" cy="213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RENOVA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0EA28AE8-0EF8-4380-A76D-FF4105228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424" y="4846320"/>
            <a:ext cx="1280160" cy="2057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5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Ácido salicílico</a:t>
            </a:r>
          </a:p>
        </p:txBody>
      </p:sp>
      <p:sp>
        <p:nvSpPr>
          <p:cNvPr id="30" name="Rounded Rectangle 29">
            <a:extLst xmlns:a="http://schemas.openxmlformats.org/drawingml/2006/main">
              <a:ext uri="{FF2B5EF4-FFF2-40B4-BE49-F238E27FC236}">
                <a16:creationId xmlns:a16="http://schemas.microsoft.com/office/drawing/2014/main" id="{BE0B6F94-4EBD-4EF0-99E0-D613E2512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5925312"/>
            <a:ext cx="6793992" cy="457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>
            <a:solidFill>
              <a:srgbClr val="15151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3998BDBB-BC90-4014-B1DC-03A3BEC98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6035040"/>
            <a:ext cx="59436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1">
                <a:solidFill>
                  <a:srgbClr val="E30613"/>
                </a:solidFill>
                <a:latin typeface="Arial"/>
                <a:ea typeface="Arial"/>
                <a:cs typeface="Arial"/>
              </a:rPr>
              <a:t>INSIGHT</a:t>
            </a: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B364FFF2-2F98-4F87-8B89-B1ECC1729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035040"/>
            <a:ext cx="5715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Quem começou no skincare acessível passa a exigir resultados comprovados, sem aceitar uma rotina mais complexa.</a:t>
            </a:r>
          </a:p>
        </p:txBody>
      </p:sp>
      <p:sp>
        <p:nvSpPr>
          <p:cNvPr id="33" name="Rounded Rectangle 32">
            <a:extLst xmlns:a="http://schemas.openxmlformats.org/drawingml/2006/main">
              <a:ext uri="{FF2B5EF4-FFF2-40B4-BE49-F238E27FC236}">
                <a16:creationId xmlns:a16="http://schemas.microsoft.com/office/drawing/2014/main" id="{281A5C11-DC40-4EF9-ADEA-F7176F767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656832"/>
            <a:ext cx="2203703" cy="1874519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>
            <a:solidFill>
              <a:srgbClr val="D8D5C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5B821BC8-9CCA-416A-B727-9E990583F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839712"/>
            <a:ext cx="1965959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1">
                <a:solidFill>
                  <a:srgbClr val="E30613"/>
                </a:solidFill>
                <a:latin typeface="Arial"/>
                <a:ea typeface="Arial"/>
                <a:cs typeface="Arial"/>
              </a:rPr>
              <a:t>O CONSUMIDOR</a:t>
            </a: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0F4B55DB-72EE-476F-8F81-4BFCD7BEE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7150608"/>
            <a:ext cx="1965959" cy="1143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4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Já conhece ativos e compara fórmulas, mas ainda quer orientação simples, preço alcançável e uso diário.</a:t>
            </a:r>
          </a:p>
        </p:txBody>
      </p:sp>
      <p:sp>
        <p:nvSpPr>
          <p:cNvPr id="36" name="Rounded Rectangle 35">
            <a:extLst xmlns:a="http://schemas.openxmlformats.org/drawingml/2006/main">
              <a:ext uri="{FF2B5EF4-FFF2-40B4-BE49-F238E27FC236}">
                <a16:creationId xmlns:a16="http://schemas.microsoft.com/office/drawing/2014/main" id="{6E26DA1D-82F5-4FFF-8FCC-7E974FEAC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9191" y="6656832"/>
            <a:ext cx="2203703" cy="1874519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>
            <a:solidFill>
              <a:srgbClr val="D8D5C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162508D4-140B-4382-AD0E-1912EE677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8063" y="6839712"/>
            <a:ext cx="1965959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1">
                <a:solidFill>
                  <a:srgbClr val="E30613"/>
                </a:solidFill>
                <a:latin typeface="Arial"/>
                <a:ea typeface="Arial"/>
                <a:cs typeface="Arial"/>
              </a:rPr>
              <a:t>A PROMESSA</a:t>
            </a:r>
          </a:p>
        </p:txBody>
      </p:sp>
      <p:sp>
        <p:nvSpPr>
          <p:cNvPr id="38" name="TextBox 37">
            <a:extLst xmlns:a="http://schemas.openxmlformats.org/drawingml/2006/main">
              <a:ext uri="{FF2B5EF4-FFF2-40B4-BE49-F238E27FC236}">
                <a16:creationId xmlns:a16="http://schemas.microsoft.com/office/drawing/2014/main" id="{A77E90E9-960D-47C3-8D9F-217C7CF63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8063" y="7150608"/>
            <a:ext cx="1965959" cy="1143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4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Correção de marcas com tolerância comprovada, orientação de uso e preço de entrada na categoria.</a:t>
            </a:r>
          </a:p>
        </p:txBody>
      </p:sp>
      <p:sp>
        <p:nvSpPr>
          <p:cNvPr id="39" name="Rounded Rectangle 38">
            <a:extLst xmlns:a="http://schemas.openxmlformats.org/drawingml/2006/main">
              <a:ext uri="{FF2B5EF4-FFF2-40B4-BE49-F238E27FC236}">
                <a16:creationId xmlns:a16="http://schemas.microsoft.com/office/drawing/2014/main" id="{2000F73F-F425-46AB-8D3B-DFFA2B189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4336" y="6656832"/>
            <a:ext cx="2203703" cy="1874519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>
            <a:solidFill>
              <a:srgbClr val="D8D5C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0" name="TextBox 39">
            <a:extLst xmlns:a="http://schemas.openxmlformats.org/drawingml/2006/main">
              <a:ext uri="{FF2B5EF4-FFF2-40B4-BE49-F238E27FC236}">
                <a16:creationId xmlns:a16="http://schemas.microsoft.com/office/drawing/2014/main" id="{752A556A-DBC3-4A86-882C-0F3D3363C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3207" y="6839712"/>
            <a:ext cx="1965959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1">
                <a:solidFill>
                  <a:srgbClr val="E30613"/>
                </a:solidFill>
                <a:latin typeface="Arial"/>
                <a:ea typeface="Arial"/>
                <a:cs typeface="Arial"/>
              </a:rPr>
              <a:t>O DIFERENCIAL</a:t>
            </a:r>
          </a:p>
        </p:txBody>
      </p:sp>
      <p:sp>
        <p:nvSpPr>
          <p:cNvPr id="41" name="TextBox 40">
            <a:extLst xmlns:a="http://schemas.openxmlformats.org/drawingml/2006/main">
              <a:ext uri="{FF2B5EF4-FFF2-40B4-BE49-F238E27FC236}">
                <a16:creationId xmlns:a16="http://schemas.microsoft.com/office/drawing/2014/main" id="{D5985E84-E130-4F6F-88E2-1946252D3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3207" y="7150608"/>
            <a:ext cx="1965959" cy="1143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4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A porta de entrada da Beleza Dermatológica: rigor de prova e linguagem simples, sem competir com tratamentos especializados.</a:t>
            </a:r>
          </a:p>
        </p:txBody>
      </p:sp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8178F515-3DCF-40C1-93EB-59DC15BC4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10241280"/>
            <a:ext cx="621792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00" b="1">
                <a:solidFill>
                  <a:srgbClr val="555555"/>
                </a:solidFill>
                <a:latin typeface="Arial"/>
                <a:ea typeface="Arial"/>
                <a:cs typeface="Arial"/>
              </a:rPr>
              <a:t>REIMAGINE UM PRODUTO  |  PROPOSTA CONCEITUAL</a:t>
            </a:r>
          </a:p>
        </p:txBody>
      </p:sp>
    </p:spTree>
    <p:extLst>
      <p:ext uri="{BB962C8B-B14F-4D97-AF65-F5344CB8AC3E}">
        <p14:creationId xmlns:p14="http://schemas.microsoft.com/office/powerpoint/2010/main" val="77339797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E9E7D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51727F41-BB4C-4E6A-9DD1-745749159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" y="137160"/>
            <a:ext cx="7287768" cy="1041501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9E7DF"/>
          </a:solidFill>
          <a:ln xmlns:a="http://schemas.openxmlformats.org/drawingml/2006/main">
            <a:solidFill>
              <a:srgbClr val="D8D5C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EBA0F73F-8A15-4E77-9CD7-4965E3727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438912"/>
            <a:ext cx="1280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L’ORÉAL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55D3D075-D9E2-44C9-B06D-521E87F65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76656"/>
            <a:ext cx="109728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1">
                <a:solidFill>
                  <a:srgbClr val="E30613"/>
                </a:solidFill>
                <a:latin typeface="Arial"/>
                <a:ea typeface="Arial"/>
                <a:cs typeface="Arial"/>
              </a:rPr>
              <a:t>SEEDZ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CB94CBE6-E573-47FB-94E7-DB6229F00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30352"/>
            <a:ext cx="4572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00" b="1">
                <a:solidFill>
                  <a:srgbClr val="E3061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DD08A5F1-83D8-4861-A97C-B436CB02F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1051560"/>
            <a:ext cx="43891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900" b="1">
                <a:solidFill>
                  <a:srgbClr val="E30613"/>
                </a:solidFill>
                <a:latin typeface="Arial"/>
                <a:ea typeface="Arial"/>
                <a:cs typeface="Arial"/>
              </a:rPr>
              <a:t>DA IDEIA À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37CEE579-B78F-48B2-AB4F-8E8C9A773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1481328"/>
            <a:ext cx="43891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900" b="1">
                <a:solidFill>
                  <a:srgbClr val="E30613"/>
                </a:solidFill>
                <a:latin typeface="Arial"/>
                <a:ea typeface="Arial"/>
                <a:cs typeface="Arial"/>
              </a:rPr>
              <a:t>ESTRATÉGIA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CAA8B913-689D-4D58-A60A-C1A8D7612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1847088"/>
            <a:ext cx="43891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COMO A PROPOSTA CRIA VALOR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C598639F-B0E4-47BA-BA28-1EAF85C06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2240280"/>
            <a:ext cx="6793992" cy="22402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FFF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74E14AEE-D724-4227-B1BF-27707F633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2487168"/>
            <a:ext cx="3657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DECISÕES ESTRATÉGICAS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8882D245-D519-48F8-B461-428081226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2907792"/>
            <a:ext cx="25603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50" b="1">
                <a:solidFill>
                  <a:srgbClr val="E30613"/>
                </a:solidFill>
                <a:latin typeface="Arial"/>
                <a:ea typeface="Arial"/>
                <a:cs typeface="Arial"/>
              </a:rPr>
              <a:t>O QUE PERMANECE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ADC04BCE-1F08-4C39-8447-2D9952982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3136392"/>
            <a:ext cx="27432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69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Preço alcançável, textura leve, uso diário e linguagem direta. Vitamina C e niacinamida continuam no centro da fórmula.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148E1432-7658-49F4-AD69-BAEF18BFA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907792"/>
            <a:ext cx="25603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50" b="1">
                <a:solidFill>
                  <a:srgbClr val="E30613"/>
                </a:solidFill>
                <a:latin typeface="Arial"/>
                <a:ea typeface="Arial"/>
                <a:cs typeface="Arial"/>
              </a:rPr>
              <a:t>O QUE MUDA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F718D9C5-596A-447E-857D-9B24C7848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136392"/>
            <a:ext cx="274320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69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Validação clínica, avaliação de tolerância e embalagem airless. A venda migra para farmácias e e-commerce com orientação especializada.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8DFA3431-1E5D-4772-85D5-5A4A32F89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3968496"/>
            <a:ext cx="9144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GARNIER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2A7591CA-F6F1-462E-8666-946F3FE5B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472" y="3931920"/>
            <a:ext cx="2743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E30613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5D3BC87E-2962-4FF5-8943-7BB581DC4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0512" y="3968496"/>
            <a:ext cx="1417320" cy="243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DERMA C+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8B5873C8-95D9-410B-809A-318B6002C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3552" y="3931920"/>
            <a:ext cx="2743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E30613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5DFFE42B-FF3B-4AB0-A4F5-9AE4D99FF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3968496"/>
            <a:ext cx="2468880" cy="243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ENTRADA EM DERMOCOSMÉTICOS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316523E1-FD66-4DDD-98BC-60B6A75DE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4187952"/>
            <a:ext cx="62179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4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A nova proposta acompanha o consumidor que busca mais eficácia, sem abandonar a simplicidade que o trouxe à Garnier.</a:t>
            </a:r>
          </a:p>
        </p:txBody>
      </p:sp>
      <p:sp>
        <p:nvSpPr>
          <p:cNvPr id="21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8840317F-CE0F-4830-869D-FCBFD4264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4709160"/>
            <a:ext cx="6793992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>
            <a:solidFill>
              <a:srgbClr val="15151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24D2F16D-C9FB-4E5D-B811-6905107E9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4882896"/>
            <a:ext cx="9144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1">
                <a:solidFill>
                  <a:srgbClr val="E30613"/>
                </a:solidFill>
                <a:latin typeface="Arial"/>
                <a:ea typeface="Arial"/>
                <a:cs typeface="Arial"/>
              </a:rPr>
              <a:t>CAMPANHA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DDD4D968-E2E7-4694-8916-D92090031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5120640"/>
            <a:ext cx="3657600" cy="350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MARCAS VISÍVEIS.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FF76699A-EB18-4768-AC20-F0927C521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5358384"/>
            <a:ext cx="3840480" cy="350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ROTINA SIMPLES.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97BFF104-03D6-4C8F-B610-FC292E570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5120640"/>
            <a:ext cx="20116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1">
                <a:solidFill>
                  <a:srgbClr val="E30613"/>
                </a:solidFill>
                <a:latin typeface="Arial"/>
                <a:ea typeface="Arial"/>
                <a:cs typeface="Arial"/>
              </a:rPr>
              <a:t>EFICÁCIA CLÍNICA.
ROTINA SIMPLES.</a:t>
            </a:r>
          </a:p>
        </p:txBody>
      </p:sp>
      <p:sp>
        <p:nvSpPr>
          <p:cNvPr id="26" name="Rounded Rectangle 25">
            <a:extLst xmlns:a="http://schemas.openxmlformats.org/drawingml/2006/main">
              <a:ext uri="{FF2B5EF4-FFF2-40B4-BE49-F238E27FC236}">
                <a16:creationId xmlns:a16="http://schemas.microsoft.com/office/drawing/2014/main" id="{15A9D974-9D28-4B3C-B1E8-4E2F6BCAA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5833872"/>
            <a:ext cx="2203703" cy="3246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>
            <a:solidFill>
              <a:srgbClr val="D8D5C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0045E7FD-C144-4A31-BAED-32F4B5B8A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053328"/>
            <a:ext cx="1965959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50" b="1">
                <a:solidFill>
                  <a:srgbClr val="E30613"/>
                </a:solidFill>
                <a:latin typeface="Arial"/>
                <a:ea typeface="Arial"/>
                <a:cs typeface="Arial"/>
              </a:rPr>
              <a:t>IMPACTOS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295450E3-3A03-470C-8E25-3A662B9C6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37376"/>
            <a:ext cx="1965959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5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CONSUMIDOR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E51D828C-7E2E-4382-88F1-AE40C40C2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620256"/>
            <a:ext cx="1965959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7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Mais segurança na escolha, instruções claras e uma rotina simples para tratar marcas.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D473801B-C1E9-4304-A36C-A4D57BCB6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7278624"/>
            <a:ext cx="1965959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5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GARNIER</a:t>
            </a: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09438578-9F95-4A0E-9239-E14CACF06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7461504"/>
            <a:ext cx="1965959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7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Maior ticket médio e credibilidade no canal farma, com uma porta de entrada para a categoria.</a:t>
            </a: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9C93BDDC-044E-4181-A81E-47AB7099D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119872"/>
            <a:ext cx="1965959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5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L’ORÉAL</a:t>
            </a: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B016ABD1-FCF8-44C9-88AA-38A89D22A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302752"/>
            <a:ext cx="1965959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7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Retém o consumidor antes que ele migre para marcas dermatológicas fora do grupo.</a:t>
            </a:r>
          </a:p>
        </p:txBody>
      </p:sp>
      <p:sp>
        <p:nvSpPr>
          <p:cNvPr id="34" name="Rounded Rectangle 33">
            <a:extLst xmlns:a="http://schemas.openxmlformats.org/drawingml/2006/main">
              <a:ext uri="{FF2B5EF4-FFF2-40B4-BE49-F238E27FC236}">
                <a16:creationId xmlns:a16="http://schemas.microsoft.com/office/drawing/2014/main" id="{6702B07A-E9CA-498A-9683-86902AA2C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9191" y="5833872"/>
            <a:ext cx="2203703" cy="3246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>
            <a:solidFill>
              <a:srgbClr val="D8D5C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9D27206A-244E-4BD1-9991-DC08609F4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8063" y="6053328"/>
            <a:ext cx="1965959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50" b="1">
                <a:solidFill>
                  <a:srgbClr val="E30613"/>
                </a:solidFill>
                <a:latin typeface="Arial"/>
                <a:ea typeface="Arial"/>
                <a:cs typeface="Arial"/>
              </a:rPr>
              <a:t>RISCOS</a:t>
            </a:r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6D46F824-F8B0-4334-8C92-449178419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8063" y="6437376"/>
            <a:ext cx="1965959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5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IDENTIDADE</a:t>
            </a:r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EC6AA998-4010-43AA-8B46-FCDCEEC7C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8063" y="6620256"/>
            <a:ext cx="1965959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7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A linguagem clínica pode enfraquecer o vínculo acessível e próximo da Garnier.</a:t>
            </a:r>
          </a:p>
        </p:txBody>
      </p:sp>
      <p:sp>
        <p:nvSpPr>
          <p:cNvPr id="38" name="TextBox 37">
            <a:extLst xmlns:a="http://schemas.openxmlformats.org/drawingml/2006/main">
              <a:ext uri="{FF2B5EF4-FFF2-40B4-BE49-F238E27FC236}">
                <a16:creationId xmlns:a16="http://schemas.microsoft.com/office/drawing/2014/main" id="{93BCAC8F-A7CF-40AB-97FE-AACB53EA3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8063" y="7278624"/>
            <a:ext cx="1965959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5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CANIBALIZAÇÃO</a:t>
            </a:r>
          </a:p>
        </p:txBody>
      </p:sp>
      <p:sp>
        <p:nvSpPr>
          <p:cNvPr id="39" name="TextBox 38">
            <a:extLst xmlns:a="http://schemas.openxmlformats.org/drawingml/2006/main">
              <a:ext uri="{FF2B5EF4-FFF2-40B4-BE49-F238E27FC236}">
                <a16:creationId xmlns:a16="http://schemas.microsoft.com/office/drawing/2014/main" id="{06F40C03-D329-4F5A-8206-61CAEF650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8063" y="7461504"/>
            <a:ext cx="1965959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7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A nova linha pode sobrepor ofertas de CeraVe, Vichy e La Roche-Posay.</a:t>
            </a:r>
          </a:p>
        </p:txBody>
      </p:sp>
      <p:sp>
        <p:nvSpPr>
          <p:cNvPr id="40" name="TextBox 39">
            <a:extLst xmlns:a="http://schemas.openxmlformats.org/drawingml/2006/main">
              <a:ext uri="{FF2B5EF4-FFF2-40B4-BE49-F238E27FC236}">
                <a16:creationId xmlns:a16="http://schemas.microsoft.com/office/drawing/2014/main" id="{A6FDBC1D-9292-4A07-8668-8B34F3E65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8063" y="8119872"/>
            <a:ext cx="1965959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5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PROMESSA</a:t>
            </a:r>
          </a:p>
        </p:txBody>
      </p:sp>
      <p:sp>
        <p:nvSpPr>
          <p:cNvPr id="41" name="TextBox 40">
            <a:extLst xmlns:a="http://schemas.openxmlformats.org/drawingml/2006/main">
              <a:ext uri="{FF2B5EF4-FFF2-40B4-BE49-F238E27FC236}">
                <a16:creationId xmlns:a16="http://schemas.microsoft.com/office/drawing/2014/main" id="{41A94AFF-9395-45A1-80A3-DB472C874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8063" y="8302752"/>
            <a:ext cx="1965959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7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Claims exigem estudos robustos, avaliação de tolerância e comunicação regulatória precisa.</a:t>
            </a:r>
          </a:p>
        </p:txBody>
      </p:sp>
      <p:sp>
        <p:nvSpPr>
          <p:cNvPr id="42" name="Rounded Rectangle 41">
            <a:extLst xmlns:a="http://schemas.openxmlformats.org/drawingml/2006/main">
              <a:ext uri="{FF2B5EF4-FFF2-40B4-BE49-F238E27FC236}">
                <a16:creationId xmlns:a16="http://schemas.microsoft.com/office/drawing/2014/main" id="{E490E336-AF03-42A8-A41B-9B062EA15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4336" y="5833872"/>
            <a:ext cx="2203703" cy="3246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>
            <a:solidFill>
              <a:srgbClr val="D8D5C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3" name="TextBox 42">
            <a:extLst xmlns:a="http://schemas.openxmlformats.org/drawingml/2006/main">
              <a:ext uri="{FF2B5EF4-FFF2-40B4-BE49-F238E27FC236}">
                <a16:creationId xmlns:a16="http://schemas.microsoft.com/office/drawing/2014/main" id="{DC932919-2D0C-4351-82D1-FD12405BE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3207" y="6053328"/>
            <a:ext cx="1965959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50" b="1">
                <a:solidFill>
                  <a:srgbClr val="E30613"/>
                </a:solidFill>
                <a:latin typeface="Arial"/>
                <a:ea typeface="Arial"/>
                <a:cs typeface="Arial"/>
              </a:rPr>
              <a:t>RESULTADOS ESPERADOS</a:t>
            </a:r>
          </a:p>
        </p:txBody>
      </p:sp>
      <p:sp>
        <p:nvSpPr>
          <p:cNvPr id="44" name="TextBox 43">
            <a:extLst xmlns:a="http://schemas.openxmlformats.org/drawingml/2006/main">
              <a:ext uri="{FF2B5EF4-FFF2-40B4-BE49-F238E27FC236}">
                <a16:creationId xmlns:a16="http://schemas.microsoft.com/office/drawing/2014/main" id="{5CBC16B1-5F74-48B0-91AE-878DE4EC0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3207" y="6437376"/>
            <a:ext cx="1965959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5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NEGÓCIO</a:t>
            </a:r>
          </a:p>
        </p:txBody>
      </p:sp>
      <p:sp>
        <p:nvSpPr>
          <p:cNvPr id="45" name="TextBox 44">
            <a:extLst xmlns:a="http://schemas.openxmlformats.org/drawingml/2006/main">
              <a:ext uri="{FF2B5EF4-FFF2-40B4-BE49-F238E27FC236}">
                <a16:creationId xmlns:a16="http://schemas.microsoft.com/office/drawing/2014/main" id="{0849130B-ED18-487E-9BFB-4DFD42FEB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3207" y="6620256"/>
            <a:ext cx="1965959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7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Trade-up dentro da marca, com margem e ticket maiores sem abandonar o preço de entrada.</a:t>
            </a:r>
          </a:p>
        </p:txBody>
      </p:sp>
      <p:sp>
        <p:nvSpPr>
          <p:cNvPr id="46" name="TextBox 45">
            <a:extLst xmlns:a="http://schemas.openxmlformats.org/drawingml/2006/main">
              <a:ext uri="{FF2B5EF4-FFF2-40B4-BE49-F238E27FC236}">
                <a16:creationId xmlns:a16="http://schemas.microsoft.com/office/drawing/2014/main" id="{8B821339-9054-4580-B3BA-98BFE6914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3207" y="7278624"/>
            <a:ext cx="1965959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5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MARCA</a:t>
            </a:r>
          </a:p>
        </p:txBody>
      </p:sp>
      <p:sp>
        <p:nvSpPr>
          <p:cNvPr id="47" name="TextBox 46">
            <a:extLst xmlns:a="http://schemas.openxmlformats.org/drawingml/2006/main">
              <a:ext uri="{FF2B5EF4-FFF2-40B4-BE49-F238E27FC236}">
                <a16:creationId xmlns:a16="http://schemas.microsoft.com/office/drawing/2014/main" id="{0C34C104-D38B-47D4-B729-24304FB35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3207" y="7461504"/>
            <a:ext cx="1965959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7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Maior associação da Garnier com eficácia comprovada e cuidado dermatológico acessível.</a:t>
            </a:r>
          </a:p>
        </p:txBody>
      </p:sp>
      <p:sp>
        <p:nvSpPr>
          <p:cNvPr id="48" name="TextBox 47">
            <a:extLst xmlns:a="http://schemas.openxmlformats.org/drawingml/2006/main">
              <a:ext uri="{FF2B5EF4-FFF2-40B4-BE49-F238E27FC236}">
                <a16:creationId xmlns:a16="http://schemas.microsoft.com/office/drawing/2014/main" id="{B7D8F1B2-E6D0-415B-BF14-6AB5F1E49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3207" y="8119872"/>
            <a:ext cx="1965959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5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CONSUMIDOR</a:t>
            </a:r>
          </a:p>
        </p:txBody>
      </p:sp>
      <p:sp>
        <p:nvSpPr>
          <p:cNvPr id="49" name="TextBox 48">
            <a:extLst xmlns:a="http://schemas.openxmlformats.org/drawingml/2006/main">
              <a:ext uri="{FF2B5EF4-FFF2-40B4-BE49-F238E27FC236}">
                <a16:creationId xmlns:a16="http://schemas.microsoft.com/office/drawing/2014/main" id="{C303F797-4BD8-411B-AB4B-62E94B106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3207" y="8302752"/>
            <a:ext cx="1965959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7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Mais retenção e uma progressão clara para soluções especializadas do portfólio L’Oréal.</a:t>
            </a:r>
          </a:p>
        </p:txBody>
      </p:sp>
      <p:sp>
        <p:nvSpPr>
          <p:cNvPr id="50" name="Rounded Rectangle 49">
            <a:extLst xmlns:a="http://schemas.openxmlformats.org/drawingml/2006/main">
              <a:ext uri="{FF2B5EF4-FFF2-40B4-BE49-F238E27FC236}">
                <a16:creationId xmlns:a16="http://schemas.microsoft.com/office/drawing/2014/main" id="{35F09B4D-3079-48A6-9427-A3599D85A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9326880"/>
            <a:ext cx="6793992" cy="4846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30613"/>
          </a:solidFill>
          <a:ln xmlns:a="http://schemas.openxmlformats.org/drawingml/2006/main">
            <a:solidFill>
              <a:srgbClr val="E30613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1" name="TextBox 50">
            <a:extLst xmlns:a="http://schemas.openxmlformats.org/drawingml/2006/main">
              <a:ext uri="{FF2B5EF4-FFF2-40B4-BE49-F238E27FC236}">
                <a16:creationId xmlns:a16="http://schemas.microsoft.com/office/drawing/2014/main" id="{F34A23C1-3722-4DC6-8043-195607214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9482328"/>
            <a:ext cx="6793992" cy="2514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DERMOCOSMÉTICO DE ENTRADA, COM A SIMPLICIDADE DA GARNIER.</a:t>
            </a:r>
          </a:p>
        </p:txBody>
      </p:sp>
      <p:sp>
        <p:nvSpPr>
          <p:cNvPr id="52" name="TextBox 51">
            <a:extLst xmlns:a="http://schemas.openxmlformats.org/drawingml/2006/main">
              <a:ext uri="{FF2B5EF4-FFF2-40B4-BE49-F238E27FC236}">
                <a16:creationId xmlns:a16="http://schemas.microsoft.com/office/drawing/2014/main" id="{62A5AE25-8922-45E7-A36E-F207F4E10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10241280"/>
            <a:ext cx="621792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80" b="1">
                <a:solidFill>
                  <a:srgbClr val="555555"/>
                </a:solidFill>
                <a:latin typeface="Arial"/>
                <a:ea typeface="Arial"/>
                <a:cs typeface="Arial"/>
              </a:rPr>
              <a:t>REIMAGINE UM PRODUTO  |  GARNIER → BELEZA DERMATOLÓGICA</a:t>
            </a:r>
          </a:p>
        </p:txBody>
      </p:sp>
    </p:spTree>
    <p:extLst>
      <p:ext uri="{BB962C8B-B14F-4D97-AF65-F5344CB8AC3E}">
        <p14:creationId xmlns:p14="http://schemas.microsoft.com/office/powerpoint/2010/main" val="302850134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2026-09-15T19:52:59.7490000Z</dcterms:created>
  <dcterms:modified xsi:type="dcterms:W3CDTF">2026-09-15T19:52:59.7490000Z</dcterms:modified>
</coreProperties>
</file>