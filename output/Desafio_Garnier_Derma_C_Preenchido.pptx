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4f76f662cf641ce" /><Relationship Type="http://schemas.openxmlformats.org/officeDocument/2006/relationships/extended-properties" Target="/docProps/app.xml" Id="Reca405963112454e" /><Relationship Type="http://schemas.openxmlformats.org/officeDocument/2006/relationships/officeDocument" Target="/ppt/presentation.xml" Id="R09bbded463714b6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2a34f1f124c411e"/>
  </p:sldMasterIdLst>
  <p:notesMasterIdLst>
    <p:notesMasterId xmlns:r="http://schemas.openxmlformats.org/officeDocument/2006/relationships" r:id="R1232dc846cc044c8"/>
  </p:notesMasterIdLst>
  <p:sldIdLst>
    <p:sldId xmlns:r="http://schemas.openxmlformats.org/officeDocument/2006/relationships" id="256" r:id="R3b9d125a8b3b4a23"/>
    <p:sldId xmlns:r="http://schemas.openxmlformats.org/officeDocument/2006/relationships" id="257" r:id="R7d7a7cf1d8d74a95"/>
  </p:sldIdLst>
  <p:sldSz cx="7562088" cy="10689336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 snapToObjects="1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573cbaa03124ea7" /><Relationship Type="http://schemas.openxmlformats.org/officeDocument/2006/relationships/slideMaster" Target="/ppt/slideMasters/slideMaster1.xml" Id="R02a34f1f124c411e" /><Relationship Type="http://schemas.openxmlformats.org/officeDocument/2006/relationships/notesMaster" Target="/ppt/notesMasters/notesMaster1.xml" Id="R1232dc846cc044c8" /><Relationship Type="http://schemas.openxmlformats.org/officeDocument/2006/relationships/presProps" Target="/ppt/presProps.xml" Id="Re740041ce7b84732" /><Relationship Type="http://schemas.openxmlformats.org/officeDocument/2006/relationships/viewProps" Target="/ppt/viewProps.xml" Id="Rdb95b466b608438f" /><Relationship Type="http://schemas.openxmlformats.org/officeDocument/2006/relationships/tableStyles" Target="/ppt/tableStyles.xml" Id="R21a11b8b341347fe" /><Relationship Type="http://schemas.openxmlformats.org/officeDocument/2006/relationships/slide" Target="/ppt/slides/slide1.xml" Id="R3b9d125a8b3b4a23" /><Relationship Type="http://schemas.openxmlformats.org/officeDocument/2006/relationships/slide" Target="/ppt/slides/slide2.xml" Id="R7d7a7cf1d8d74a9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8910b8e4ccd4ee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70b3ea8b3b9491b" /><Relationship Type="http://schemas.openxmlformats.org/officeDocument/2006/relationships/notesMaster" Target="/ppt/notesMasters/notesMaster1.xml" Id="R0fcc7a8bd870452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5298846db734d25" /><Relationship Type="http://schemas.openxmlformats.org/officeDocument/2006/relationships/notesMaster" Target="/ppt/notesMasters/notesMaster1.xml" Id="R22e5cd04b3454e5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Produto de origem: Garnier SkinActive Sérum Booster Anti-Marcas com Vitamina C. A página oficial informa Vitamina C, niacinamida, extrato de limão e ácido salicílico na fórmula. Fonte: https://www.garnier.com.br/loja/pele/necessidade/hidratacao/serum-garnier-antimarcas-com-vitamina-c (acesso em 15 set. 2026). A versão Derma C+ Corretor é uma proposta conceitual.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 L’Oréal Brasil posiciona Garnier em Produtos de Grande Público e descreve Beleza Dermatológica como uma divisão de soluções de alta eficácia, com presença em farmácias, drogarias e canais exclusivos. Fonte: https://www.loreal.com/pt-br/brazil/news/grupo/conheca-as-24-marcas-que-fazem-parte-do-grupo-loreal/ (acesso em 15 set. 2026). Embalagem, validação, canais e resultados apresentados são decisões e hipóteses da proposta.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752f5c98f4d4220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2948ad3a82546fe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7086b27ec86456b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d9957e981af4552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efb920f4e124d31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cc9719ce5564c2d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f33a6ed1e3b4718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9d39cf0e0e747b4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c39796a3d3b4e9b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4bd0896aacb4c77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9023e41948f469b" /></Relationships>
</file>

<file path=ppt/slideLayouts/slideLayout1.xml><?xml version="1.0" encoding="utf-8"?>
<p:sldLayout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3BCFFFD7-DDED-49C3-8614-9FF64C586511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685800" y="2130425"/>
            <a:ext cx="7772400" cy="14700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158B527C-9E5A-457C-9BAE-59C9AB82F179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371600" y="3886200"/>
            <a:ext cx="6400800" cy="1752600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r>
              <a:t>Click to edit Master subtitle style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B635E490-FBC4-463D-8879-D76E0AE50829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BBF4FF1C-F2FC-4D80-94F7-40A8077AFB93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9CAFB6FE-C73B-43A3-BBF2-E9370FD9BFB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2.xml><?xml version="1.0" encoding="utf-8"?>
<p:sldLayout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F456FD0C-6DDD-49A1-8932-77280E5CE00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C88F5B59-A502-4D59-864E-E2F6EFFB3666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434E113C-A1DA-4706-A437-D3A1D5DBF72D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F2FC6A50-0A9E-4FC4-A121-E1CE58A1DD02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77C33BD0-D659-4289-851F-879E2AA8704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3.xml><?xml version="1.0" encoding="utf-8"?>
<p:sldLayout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C31F723D-3B3C-4FF4-97DB-EA1FE9458CF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22313" y="4406900"/>
            <a:ext cx="7772400" cy="1362075"/>
          </a:xfrm>
        </p:spPr>
        <p:txBody>
          <a:bodyPr xmlns:a="http://schemas.openxmlformats.org/drawingml/2006/main" anchor="t"/>
          <a:lstStyle xmlns:a="http://schemas.openxmlformats.org/drawingml/2006/main">
            <a:lvl1pPr algn="l">
              <a:buNone/>
              <a:defRPr sz="4000" b="1" cap="all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AC6354F1-F0C3-492E-AF7E-40FBB37C4DF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722313" y="2906713"/>
            <a:ext cx="7772400" cy="1500187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0B7AA8DF-2D5A-4A39-9047-5FAFB360D1CF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946773DD-F80A-4B5B-9223-E9E17E6A342D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DFA09633-6BE6-40C2-AC2D-5C23E915F2C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092BACE6-A1A1-4BB7-AB91-A5D1439B31D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0071371F-3A82-4B6B-BB51-1A2EF6CE4750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457200" y="1600200"/>
            <a:ext cx="4038600" cy="452596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0C751EED-1BC7-419D-A291-53FD004BACF1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4648200" y="1600200"/>
            <a:ext cx="4038600" cy="452596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979610A4-4195-413B-9FF8-EBE617B56841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5CC54DD3-7D38-4C50-B8EB-E7798047172C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466D7318-F849-4885-A4BA-98C5886CD01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367DDFE8-1896-45B1-B0BF-2B42D6CD937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79A5CFED-DA75-4110-8BDC-A1112F01C11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1535113"/>
            <a:ext cx="4040188" cy="63976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96933A62-7729-44CE-9C32-EF508555B7FB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457200" y="2174875"/>
            <a:ext cx="4040188" cy="3951288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5" name="Text Placeholder 4">
            <a:extLst xmlns:a="http://schemas.openxmlformats.org/drawingml/2006/main">
              <a:ext uri="{FF2B5EF4-FFF2-40B4-BE49-F238E27FC236}">
                <a16:creationId xmlns:a16="http://schemas.microsoft.com/office/drawing/2014/main" id="{7A979791-CC40-42D2-8DD9-237F9CF4DF13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4645025" y="1535113"/>
            <a:ext cx="4041775" cy="63976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6" name="Content Placeholder 5">
            <a:extLst xmlns:a="http://schemas.openxmlformats.org/drawingml/2006/main">
              <a:ext uri="{FF2B5EF4-FFF2-40B4-BE49-F238E27FC236}">
                <a16:creationId xmlns:a16="http://schemas.microsoft.com/office/drawing/2014/main" id="{57092629-17F0-4113-9E56-513711CF472C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4645025" y="2174875"/>
            <a:ext cx="4041775" cy="3951288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7" name="Date Placeholder 6">
            <a:extLst xmlns:a="http://schemas.openxmlformats.org/drawingml/2006/main">
              <a:ext uri="{FF2B5EF4-FFF2-40B4-BE49-F238E27FC236}">
                <a16:creationId xmlns:a16="http://schemas.microsoft.com/office/drawing/2014/main" id="{9E71F800-61CD-4266-81F1-4300B95A2827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8" name="Footer Placeholder 7">
            <a:extLst xmlns:a="http://schemas.openxmlformats.org/drawingml/2006/main">
              <a:ext uri="{FF2B5EF4-FFF2-40B4-BE49-F238E27FC236}">
                <a16:creationId xmlns:a16="http://schemas.microsoft.com/office/drawing/2014/main" id="{05C2A857-808D-4F21-BCE3-287F0A8DF51B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Slide Number Placeholder 8">
            <a:extLst xmlns:a="http://schemas.openxmlformats.org/drawingml/2006/main">
              <a:ext uri="{FF2B5EF4-FFF2-40B4-BE49-F238E27FC236}">
                <a16:creationId xmlns:a16="http://schemas.microsoft.com/office/drawing/2014/main" id="{F57D20B1-4DC1-4110-A5B3-6F2732CBCF4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A70C0C5C-EE70-42F5-887A-84784ACA845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Date Placeholder 2">
            <a:extLst xmlns:a="http://schemas.openxmlformats.org/drawingml/2006/main">
              <a:ext uri="{FF2B5EF4-FFF2-40B4-BE49-F238E27FC236}">
                <a16:creationId xmlns:a16="http://schemas.microsoft.com/office/drawing/2014/main" id="{382A68E5-668C-4814-A6BA-B935001B970E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4" name="Footer Placeholder 3">
            <a:extLst xmlns:a="http://schemas.openxmlformats.org/drawingml/2006/main">
              <a:ext uri="{FF2B5EF4-FFF2-40B4-BE49-F238E27FC236}">
                <a16:creationId xmlns:a16="http://schemas.microsoft.com/office/drawing/2014/main" id="{351E27DD-6EEA-44CF-9F46-D04BA31DBD9C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9677F1F6-C4C6-479E-A00A-3D5177DDB3E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7.xml><?xml version="1.0" encoding="utf-8"?>
<p:sldLayout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Date Placeholder 1">
            <a:extLst xmlns:a="http://schemas.openxmlformats.org/drawingml/2006/main">
              <a:ext uri="{FF2B5EF4-FFF2-40B4-BE49-F238E27FC236}">
                <a16:creationId xmlns:a16="http://schemas.microsoft.com/office/drawing/2014/main" id="{8364700D-2330-4223-8581-8870AC4A4CFA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3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2F001B1D-DD69-4804-9E58-9AD9474410B3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129253A6-3E3D-4E5E-B824-D1DD07B79D4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8.xml><?xml version="1.0" encoding="utf-8"?>
<p:sldLayout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023A1076-118F-46DA-AEEF-09668D75ABB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273050"/>
            <a:ext cx="3008313" cy="1162050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2000" b="1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1B93C72D-C5B9-4214-9053-BEEA63A998F3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575050" y="273050"/>
            <a:ext cx="5111750" cy="585311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CE9DC10E-7D8C-4D7E-BD4B-E175D685D0F3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457200" y="1435100"/>
            <a:ext cx="3008313" cy="4691063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3EBB2D42-FD6A-4207-848E-D8627CAED887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5EF20B06-CD4F-4D5F-A67F-BBCFF95BA0AD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CA4EB299-2EA7-46D1-82DE-0F4A9B920E7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9.xml><?xml version="1.0" encoding="utf-8"?>
<p:sldLayout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21055A64-F69A-4451-B016-BE0FAFB8181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792288" y="4800600"/>
            <a:ext cx="5486400" cy="566738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2000" b="1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Picture Placeholder 2">
            <a:extLst xmlns:a="http://schemas.openxmlformats.org/drawingml/2006/main">
              <a:ext uri="{FF2B5EF4-FFF2-40B4-BE49-F238E27FC236}">
                <a16:creationId xmlns:a16="http://schemas.microsoft.com/office/drawing/2014/main" id="{6126C91E-8A1B-4FFC-9B13-33D2896E5618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1792288" y="612775"/>
            <a:ext cx="5486400" cy="4114800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>
            <a:endParaRPr/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6AFE4A54-95C0-415F-A688-1CFB27AC2936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1792288" y="5367338"/>
            <a:ext cx="5486400" cy="804862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5CE2F203-16A8-4CE4-B9B9-ED2B60669A50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EA2103B9-303F-4231-9555-B4017BB928A0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249A967C-BE8C-46FE-B08F-97A6A385C0B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10.xml><?xml version="1.0" encoding="utf-8"?>
<p:sldLayout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5EE8004D-8EE1-44B1-96DB-ECB2DEC9EBC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EF202B80-C5ED-421C-8A5C-C3520EB3EC3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9EB097C8-BCD3-4D2B-95B2-60DF78258C53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95A50DEE-FA38-4F48-BC80-3696BECAE415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635A07BB-A581-46A4-875A-38A1A69E5A7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11.xml><?xml version="1.0" encoding="utf-8"?>
<p:sldLayout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Vertical Title 1">
            <a:extLst xmlns:a="http://schemas.openxmlformats.org/drawingml/2006/main">
              <a:ext uri="{FF2B5EF4-FFF2-40B4-BE49-F238E27FC236}">
                <a16:creationId xmlns:a16="http://schemas.microsoft.com/office/drawing/2014/main" id="{D432DD49-4B27-4F67-A57C-3C04001AFDA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629400" y="274638"/>
            <a:ext cx="2057400" cy="5851525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5BF809E8-1D8D-436E-8C3B-340A2D32E76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274638"/>
            <a:ext cx="6019800" cy="5851525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332FBD38-3E9C-4BB1-A54C-924289E49A50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CF02A03D-2706-4ACA-8DE6-4E465241DB9C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ED45BC9A-A6F4-4130-89C4-C05DFE6116E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c32be6535c04f78" /><Relationship Type="http://schemas.openxmlformats.org/officeDocument/2006/relationships/slideLayout" Target="/ppt/slideLayouts/slideLayout1.xml" Id="R4334a8f6de614c17" /><Relationship Type="http://schemas.openxmlformats.org/officeDocument/2006/relationships/slideLayout" Target="/ppt/slideLayouts/slideLayout2.xml" Id="R0210b7e63a5c4f15" /><Relationship Type="http://schemas.openxmlformats.org/officeDocument/2006/relationships/slideLayout" Target="/ppt/slideLayouts/slideLayout3.xml" Id="Rbd6c3ad18029435c" /><Relationship Type="http://schemas.openxmlformats.org/officeDocument/2006/relationships/slideLayout" Target="/ppt/slideLayouts/slideLayout4.xml" Id="R08586b9c2cb14f23" /><Relationship Type="http://schemas.openxmlformats.org/officeDocument/2006/relationships/slideLayout" Target="/ppt/slideLayouts/slideLayout5.xml" Id="Rcc5d9a1936f24844" /><Relationship Type="http://schemas.openxmlformats.org/officeDocument/2006/relationships/slideLayout" Target="/ppt/slideLayouts/slideLayout6.xml" Id="R029b66bc3fda44ad" /><Relationship Type="http://schemas.openxmlformats.org/officeDocument/2006/relationships/slideLayout" Target="/ppt/slideLayouts/slideLayout7.xml" Id="Rcbf8ec4b46f14918" /><Relationship Type="http://schemas.openxmlformats.org/officeDocument/2006/relationships/slideLayout" Target="/ppt/slideLayouts/slideLayout8.xml" Id="R4237be93061644ec" /><Relationship Type="http://schemas.openxmlformats.org/officeDocument/2006/relationships/slideLayout" Target="/ppt/slideLayouts/slideLayout9.xml" Id="R3b4afd3b50d44041" /><Relationship Type="http://schemas.openxmlformats.org/officeDocument/2006/relationships/slideLayout" Target="/ppt/slideLayouts/slideLayout10.xml" Id="R235e280bdcf34c04" /><Relationship Type="http://schemas.openxmlformats.org/officeDocument/2006/relationships/slideLayout" Target="/ppt/slideLayouts/slideLayout11.xml" Id="R8da31bfca4a74751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D394C483-A177-4317-B9F6-39AC0E35CA9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274638"/>
            <a:ext cx="8229600" cy="1143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C6664074-46D4-4616-BF1B-50760C1140C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1600200"/>
            <a:ext cx="8229600" cy="45259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570DD595-29BE-4D3B-9F01-8DAA10BD1896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457200" y="6356350"/>
            <a:ext cx="2133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7DB4EA6C-BAFA-403C-8E9B-D924D19FBB8B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124200" y="6356350"/>
            <a:ext cx="2895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AA7C23E2-DAF8-42C8-ACE9-EF47B5DA4CA5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6553200" y="6356350"/>
            <a:ext cx="2133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334a8f6de614c17"/>
    <p:sldLayoutId xmlns:r="http://schemas.openxmlformats.org/officeDocument/2006/relationships" id="2147483650" r:id="R0210b7e63a5c4f15"/>
    <p:sldLayoutId xmlns:r="http://schemas.openxmlformats.org/officeDocument/2006/relationships" id="2147483651" r:id="Rbd6c3ad18029435c"/>
    <p:sldLayoutId xmlns:r="http://schemas.openxmlformats.org/officeDocument/2006/relationships" id="2147483652" r:id="R08586b9c2cb14f23"/>
    <p:sldLayoutId xmlns:r="http://schemas.openxmlformats.org/officeDocument/2006/relationships" id="2147483653" r:id="Rcc5d9a1936f24844"/>
    <p:sldLayoutId xmlns:r="http://schemas.openxmlformats.org/officeDocument/2006/relationships" id="2147483654" r:id="R029b66bc3fda44ad"/>
    <p:sldLayoutId xmlns:r="http://schemas.openxmlformats.org/officeDocument/2006/relationships" id="2147483655" r:id="Rcbf8ec4b46f14918"/>
    <p:sldLayoutId xmlns:r="http://schemas.openxmlformats.org/officeDocument/2006/relationships" id="2147483656" r:id="R4237be93061644ec"/>
    <p:sldLayoutId xmlns:r="http://schemas.openxmlformats.org/officeDocument/2006/relationships" id="2147483657" r:id="R3b4afd3b50d44041"/>
    <p:sldLayoutId xmlns:r="http://schemas.openxmlformats.org/officeDocument/2006/relationships" id="2147483658" r:id="R235e280bdcf34c04"/>
    <p:sldLayoutId xmlns:r="http://schemas.openxmlformats.org/officeDocument/2006/relationships" id="2147483659" r:id="R8da31bfca4a74751"/>
  </p:sldLayoutIdLst>
  <p:txStyles>
    <p:titleStyle>
      <a:lvl1pPr xmlns:a="http://schemas.openxmlformats.org/drawingml/2006/main" algn="ctr" defTabSz="4572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342900" indent="-342900" algn="l" defTabSz="4572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742950" indent="-285750" algn="l" defTabSz="4572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4572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4572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4572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c45d6d1fd003422d" /><Relationship Type="http://schemas.openxmlformats.org/officeDocument/2006/relationships/notesSlide" Target="/ppt/notesSlides/notesSlide1.xml" Id="R03999f362493400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50cbd6941ec744b9" /><Relationship Type="http://schemas.openxmlformats.org/officeDocument/2006/relationships/notesSlide" Target="/ppt/notesSlides/notesSlide2.xml" Id="R012caa6ae36e4ea4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E9E7D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ounded Rectangle 1">
            <a:extLst xmlns:a="http://schemas.openxmlformats.org/drawingml/2006/main">
              <a:ext uri="{FF2B5EF4-FFF2-40B4-BE49-F238E27FC236}">
                <a16:creationId xmlns:a16="http://schemas.microsoft.com/office/drawing/2014/main" id="{8B800ECF-60F0-4B00-9C68-504946AF8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" y="137160"/>
            <a:ext cx="7287768" cy="10415016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9E7DF"/>
          </a:solidFill>
          <a:ln xmlns:a="http://schemas.openxmlformats.org/drawingml/2006/main">
            <a:solidFill>
              <a:srgbClr val="D8D5CC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58446C98-6BFD-4372-B90C-7209FD706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048" y="438912"/>
            <a:ext cx="128016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00" b="1">
                <a:solidFill>
                  <a:srgbClr val="151515"/>
                </a:solidFill>
                <a:latin typeface="Arial"/>
                <a:ea typeface="Arial"/>
                <a:cs typeface="Arial"/>
              </a:rPr>
              <a:t>L’ORÉAL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7CCC0A29-5976-4E06-96B2-AD61BD85E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048" y="676656"/>
            <a:ext cx="109728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900" b="1">
                <a:solidFill>
                  <a:srgbClr val="E30613"/>
                </a:solidFill>
                <a:latin typeface="Arial"/>
                <a:ea typeface="Arial"/>
                <a:cs typeface="Arial"/>
              </a:rPr>
              <a:t>SEEDZ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98816EE2-15D3-46A6-A326-659BF643E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530352"/>
            <a:ext cx="45720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700" b="1">
                <a:solidFill>
                  <a:srgbClr val="E30613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AC571BAB-EAA2-4F92-B962-6DE8C7812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048" y="1051560"/>
            <a:ext cx="438912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900" b="1">
                <a:solidFill>
                  <a:srgbClr val="E30613"/>
                </a:solidFill>
                <a:latin typeface="Arial"/>
                <a:ea typeface="Arial"/>
                <a:cs typeface="Arial"/>
              </a:rPr>
              <a:t>REIMAGINE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5F68E17E-83D2-4A99-92A6-2C6889105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048" y="1481328"/>
            <a:ext cx="438912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900" b="1">
                <a:solidFill>
                  <a:srgbClr val="E30613"/>
                </a:solidFill>
                <a:latin typeface="Arial"/>
                <a:ea typeface="Arial"/>
                <a:cs typeface="Arial"/>
              </a:rPr>
              <a:t>UM PRODUTO</a:t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F1CCA324-B952-499E-B87D-56E4B5171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048" y="1847088"/>
            <a:ext cx="621792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100" b="1">
                <a:solidFill>
                  <a:srgbClr val="151515"/>
                </a:solidFill>
                <a:latin typeface="Arial"/>
                <a:ea typeface="Arial"/>
                <a:cs typeface="Arial"/>
              </a:rPr>
              <a:t>DA GARNIER PARA A BELEZA DERMATOLÓGICA</a:t>
            </a:r>
          </a:p>
        </p:txBody>
      </p:sp>
      <p:sp>
        <p:nvSpPr>
          <p:cNvPr id="9" name="Rounded Rectangle 8">
            <a:extLst xmlns:a="http://schemas.openxmlformats.org/drawingml/2006/main">
              <a:ext uri="{FF2B5EF4-FFF2-40B4-BE49-F238E27FC236}">
                <a16:creationId xmlns:a16="http://schemas.microsoft.com/office/drawing/2014/main" id="{EBE88F53-77DB-4209-9F55-04665CB28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048" y="2148840"/>
            <a:ext cx="1325880" cy="29260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30613"/>
          </a:solidFill>
          <a:ln xmlns:a="http://schemas.openxmlformats.org/drawingml/2006/main">
            <a:solidFill>
              <a:srgbClr val="E30613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6491296F-388A-4748-B5DE-5E49363C3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048" y="2194560"/>
            <a:ext cx="1325880" cy="137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7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GRANDE PÚBLICO</a:t>
            </a: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CAD50A41-818A-44B1-8FD5-98567CA8D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3936" y="2176272"/>
            <a:ext cx="27432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500" b="1">
                <a:solidFill>
                  <a:srgbClr val="E30613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2" name="Rounded Rectangle 11">
            <a:extLst xmlns:a="http://schemas.openxmlformats.org/drawingml/2006/main">
              <a:ext uri="{FF2B5EF4-FFF2-40B4-BE49-F238E27FC236}">
                <a16:creationId xmlns:a16="http://schemas.microsoft.com/office/drawing/2014/main" id="{9F14187C-545E-479A-94DE-32E95D8FF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84831" y="2148840"/>
            <a:ext cx="1664208" cy="29260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51515"/>
          </a:solidFill>
          <a:ln xmlns:a="http://schemas.openxmlformats.org/drawingml/2006/main">
            <a:solidFill>
              <a:srgbClr val="151515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E400A96A-2584-4469-ACF7-20734A2E1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84831" y="2194560"/>
            <a:ext cx="1664208" cy="137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72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BELEZA DERMATOLÓGICA</a:t>
            </a:r>
          </a:p>
        </p:txBody>
      </p:sp>
      <p:sp>
        <p:nvSpPr>
          <p:cNvPr id="14" name="Rounded Rectangle 13">
            <a:extLst xmlns:a="http://schemas.openxmlformats.org/drawingml/2006/main">
              <a:ext uri="{FF2B5EF4-FFF2-40B4-BE49-F238E27FC236}">
                <a16:creationId xmlns:a16="http://schemas.microsoft.com/office/drawing/2014/main" id="{D3534417-5E72-43CD-B513-DCBD3293B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048" y="2761488"/>
            <a:ext cx="6793992" cy="29718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FFFFFF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5" name="Rounded Rectangle 14">
            <a:extLst xmlns:a="http://schemas.openxmlformats.org/drawingml/2006/main">
              <a:ext uri="{FF2B5EF4-FFF2-40B4-BE49-F238E27FC236}">
                <a16:creationId xmlns:a16="http://schemas.microsoft.com/office/drawing/2014/main" id="{CF56CFD4-8189-4E07-B8E1-7FEAE85FB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03320"/>
            <a:ext cx="932688" cy="157276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51515"/>
          </a:solidFill>
          <a:ln xmlns:a="http://schemas.openxmlformats.org/drawingml/2006/main">
            <a:solidFill>
              <a:srgbClr val="151515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6" name="Rounded Rectangle 15">
            <a:extLst xmlns:a="http://schemas.openxmlformats.org/drawingml/2006/main">
              <a:ext uri="{FF2B5EF4-FFF2-40B4-BE49-F238E27FC236}">
                <a16:creationId xmlns:a16="http://schemas.microsoft.com/office/drawing/2014/main" id="{DB839022-E460-4A20-9F99-CA97BB415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664" y="4005072"/>
            <a:ext cx="822960" cy="100584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7E2D8"/>
          </a:solidFill>
          <a:ln xmlns:a="http://schemas.openxmlformats.org/drawingml/2006/main">
            <a:solidFill>
              <a:srgbClr val="E7E2D8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7" name="Rounded Rectangle 16">
            <a:extLst xmlns:a="http://schemas.openxmlformats.org/drawingml/2006/main">
              <a:ext uri="{FF2B5EF4-FFF2-40B4-BE49-F238E27FC236}">
                <a16:creationId xmlns:a16="http://schemas.microsoft.com/office/drawing/2014/main" id="{0CBFEA3F-3549-4BAD-AD05-CFFDF04CB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" y="4416552"/>
            <a:ext cx="768096" cy="43891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30613"/>
          </a:solidFill>
          <a:ln xmlns:a="http://schemas.openxmlformats.org/drawingml/2006/main">
            <a:solidFill>
              <a:srgbClr val="E30613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8" name="TextBox 17">
            <a:extLst xmlns:a="http://schemas.openxmlformats.org/drawingml/2006/main">
              <a:ext uri="{FF2B5EF4-FFF2-40B4-BE49-F238E27FC236}">
                <a16:creationId xmlns:a16="http://schemas.microsoft.com/office/drawing/2014/main" id="{B2B168CB-AE10-4396-8E39-60E95EA94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" y="4462272"/>
            <a:ext cx="768096" cy="137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7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GARNIER</a:t>
            </a:r>
          </a:p>
        </p:txBody>
      </p:sp>
      <p:sp>
        <p:nvSpPr>
          <p:cNvPr id="19" name="TextBox 18">
            <a:extLst xmlns:a="http://schemas.openxmlformats.org/drawingml/2006/main">
              <a:ext uri="{FF2B5EF4-FFF2-40B4-BE49-F238E27FC236}">
                <a16:creationId xmlns:a16="http://schemas.microsoft.com/office/drawing/2014/main" id="{84DC619A-AFBD-4054-97C8-DF27A59D9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" y="4626864"/>
            <a:ext cx="768096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1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DERMA</a:t>
            </a:r>
          </a:p>
        </p:txBody>
      </p:sp>
      <p:sp>
        <p:nvSpPr>
          <p:cNvPr id="20" name="TextBox 19">
            <a:extLst xmlns:a="http://schemas.openxmlformats.org/drawingml/2006/main">
              <a:ext uri="{FF2B5EF4-FFF2-40B4-BE49-F238E27FC236}">
                <a16:creationId xmlns:a16="http://schemas.microsoft.com/office/drawing/2014/main" id="{DFCC1693-CE97-4550-B399-C4A80F721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" y="4818888"/>
            <a:ext cx="768096" cy="1097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C+</a:t>
            </a:r>
          </a:p>
        </p:txBody>
      </p:sp>
      <p:sp>
        <p:nvSpPr>
          <p:cNvPr id="21" name="TextBox 20">
            <a:extLst xmlns:a="http://schemas.openxmlformats.org/drawingml/2006/main">
              <a:ext uri="{FF2B5EF4-FFF2-40B4-BE49-F238E27FC236}">
                <a16:creationId xmlns:a16="http://schemas.microsoft.com/office/drawing/2014/main" id="{9D204CAF-FC6A-4169-8887-88F1C4501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3936" y="3127248"/>
            <a:ext cx="274320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00" b="1">
                <a:solidFill>
                  <a:srgbClr val="E30613"/>
                </a:solidFill>
                <a:latin typeface="Arial"/>
                <a:ea typeface="Arial"/>
                <a:cs typeface="Arial"/>
              </a:rPr>
              <a:t>GARNIER SKINACTIVE</a:t>
            </a:r>
          </a:p>
        </p:txBody>
      </p:sp>
      <p:sp>
        <p:nvSpPr>
          <p:cNvPr id="22" name="TextBox 21">
            <a:extLst xmlns:a="http://schemas.openxmlformats.org/drawingml/2006/main">
              <a:ext uri="{FF2B5EF4-FFF2-40B4-BE49-F238E27FC236}">
                <a16:creationId xmlns:a16="http://schemas.microsoft.com/office/drawing/2014/main" id="{42C4C6E4-A1E6-4775-812D-8AF9C4E94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3936" y="3401568"/>
            <a:ext cx="3108960" cy="944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800" b="1">
                <a:solidFill>
                  <a:srgbClr val="151515"/>
                </a:solidFill>
                <a:latin typeface="Arial"/>
                <a:ea typeface="Arial"/>
                <a:cs typeface="Arial"/>
              </a:rPr>
              <a:t>DERMA C+ CORRETOR</a:t>
            </a:r>
          </a:p>
        </p:txBody>
      </p:sp>
      <p:sp>
        <p:nvSpPr>
          <p:cNvPr id="23" name="TextBox 22">
            <a:extLst xmlns:a="http://schemas.openxmlformats.org/drawingml/2006/main">
              <a:ext uri="{FF2B5EF4-FFF2-40B4-BE49-F238E27FC236}">
                <a16:creationId xmlns:a16="http://schemas.microsoft.com/office/drawing/2014/main" id="{4E6A9DEC-D3DD-4323-955D-F0DBAD048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3936" y="3840480"/>
            <a:ext cx="457200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19" b="0">
                <a:solidFill>
                  <a:srgbClr val="555555"/>
                </a:solidFill>
                <a:latin typeface="Arial"/>
                <a:ea typeface="Arial"/>
                <a:cs typeface="Arial"/>
              </a:rPr>
              <a:t>O Sérum Booster Anti-Marcas reimaginado como tratamento diário para marcas pós-acne e tom irregular, com protocolo claro e prova de eficácia.</a:t>
            </a:r>
          </a:p>
        </p:txBody>
      </p:sp>
      <p:sp>
        <p:nvSpPr>
          <p:cNvPr id="24" name="TextBox 23">
            <a:extLst xmlns:a="http://schemas.openxmlformats.org/drawingml/2006/main">
              <a:ext uri="{FF2B5EF4-FFF2-40B4-BE49-F238E27FC236}">
                <a16:creationId xmlns:a16="http://schemas.microsoft.com/office/drawing/2014/main" id="{6249AEC4-B7BE-4442-9CA6-EE43C34ED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3936" y="4617720"/>
            <a:ext cx="123444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800" b="1">
                <a:solidFill>
                  <a:srgbClr val="151515"/>
                </a:solidFill>
                <a:latin typeface="Arial"/>
                <a:ea typeface="Arial"/>
                <a:cs typeface="Arial"/>
              </a:rPr>
              <a:t>UNIFORMIZA</a:t>
            </a:r>
          </a:p>
        </p:txBody>
      </p:sp>
      <p:sp>
        <p:nvSpPr>
          <p:cNvPr id="25" name="TextBox 24">
            <a:extLst xmlns:a="http://schemas.openxmlformats.org/drawingml/2006/main">
              <a:ext uri="{FF2B5EF4-FFF2-40B4-BE49-F238E27FC236}">
                <a16:creationId xmlns:a16="http://schemas.microsoft.com/office/drawing/2014/main" id="{81CC52D2-4B0A-43AA-B3AF-64DA47469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3936" y="4846320"/>
            <a:ext cx="128016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750" b="0">
                <a:solidFill>
                  <a:srgbClr val="555555"/>
                </a:solidFill>
                <a:latin typeface="Arial"/>
                <a:ea typeface="Arial"/>
                <a:cs typeface="Arial"/>
              </a:rPr>
              <a:t>Vitamina C</a:t>
            </a:r>
          </a:p>
        </p:txBody>
      </p:sp>
      <p:sp>
        <p:nvSpPr>
          <p:cNvPr id="26" name="TextBox 25">
            <a:extLst xmlns:a="http://schemas.openxmlformats.org/drawingml/2006/main">
              <a:ext uri="{FF2B5EF4-FFF2-40B4-BE49-F238E27FC236}">
                <a16:creationId xmlns:a16="http://schemas.microsoft.com/office/drawing/2014/main" id="{25D8D31E-DE3D-43AC-AC75-EBE9DE366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4680" y="4617720"/>
            <a:ext cx="123444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800" b="1">
                <a:solidFill>
                  <a:srgbClr val="151515"/>
                </a:solidFill>
                <a:latin typeface="Arial"/>
                <a:ea typeface="Arial"/>
                <a:cs typeface="Arial"/>
              </a:rPr>
              <a:t>FORTALECE</a:t>
            </a:r>
          </a:p>
        </p:txBody>
      </p:sp>
      <p:sp>
        <p:nvSpPr>
          <p:cNvPr id="27" name="TextBox 26">
            <a:extLst xmlns:a="http://schemas.openxmlformats.org/drawingml/2006/main">
              <a:ext uri="{FF2B5EF4-FFF2-40B4-BE49-F238E27FC236}">
                <a16:creationId xmlns:a16="http://schemas.microsoft.com/office/drawing/2014/main" id="{13C7FFCB-F729-4841-957D-616B786B2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4680" y="4846320"/>
            <a:ext cx="128016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750" b="0">
                <a:solidFill>
                  <a:srgbClr val="555555"/>
                </a:solidFill>
                <a:latin typeface="Arial"/>
                <a:ea typeface="Arial"/>
                <a:cs typeface="Arial"/>
              </a:rPr>
              <a:t>Niacinamida</a:t>
            </a:r>
          </a:p>
        </p:txBody>
      </p:sp>
      <p:sp>
        <p:nvSpPr>
          <p:cNvPr id="28" name="TextBox 27">
            <a:extLst xmlns:a="http://schemas.openxmlformats.org/drawingml/2006/main">
              <a:ext uri="{FF2B5EF4-FFF2-40B4-BE49-F238E27FC236}">
                <a16:creationId xmlns:a16="http://schemas.microsoft.com/office/drawing/2014/main" id="{34F14034-034C-45FC-BB01-3C8855B35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5424" y="4617720"/>
            <a:ext cx="1234440" cy="213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800" b="1">
                <a:solidFill>
                  <a:srgbClr val="151515"/>
                </a:solidFill>
                <a:latin typeface="Arial"/>
                <a:ea typeface="Arial"/>
                <a:cs typeface="Arial"/>
              </a:rPr>
              <a:t>RENOVA</a:t>
            </a:r>
          </a:p>
        </p:txBody>
      </p:sp>
      <p:sp>
        <p:nvSpPr>
          <p:cNvPr id="29" name="TextBox 28">
            <a:extLst xmlns:a="http://schemas.openxmlformats.org/drawingml/2006/main">
              <a:ext uri="{FF2B5EF4-FFF2-40B4-BE49-F238E27FC236}">
                <a16:creationId xmlns:a16="http://schemas.microsoft.com/office/drawing/2014/main" id="{706E55A7-D62D-4DD9-856A-B965B365D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5424" y="4846320"/>
            <a:ext cx="1280160" cy="2057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750" b="0">
                <a:solidFill>
                  <a:srgbClr val="555555"/>
                </a:solidFill>
                <a:latin typeface="Arial"/>
                <a:ea typeface="Arial"/>
                <a:cs typeface="Arial"/>
              </a:rPr>
              <a:t>Ácido salicílico</a:t>
            </a:r>
          </a:p>
        </p:txBody>
      </p:sp>
      <p:sp>
        <p:nvSpPr>
          <p:cNvPr id="30" name="Rounded Rectangle 29">
            <a:extLst xmlns:a="http://schemas.openxmlformats.org/drawingml/2006/main">
              <a:ext uri="{FF2B5EF4-FFF2-40B4-BE49-F238E27FC236}">
                <a16:creationId xmlns:a16="http://schemas.microsoft.com/office/drawing/2014/main" id="{268EEFA8-F3DC-4481-9091-54413DB2A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048" y="5925312"/>
            <a:ext cx="6793992" cy="4572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51515"/>
          </a:solidFill>
          <a:ln xmlns:a="http://schemas.openxmlformats.org/drawingml/2006/main">
            <a:solidFill>
              <a:srgbClr val="151515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1" name="TextBox 30">
            <a:extLst xmlns:a="http://schemas.openxmlformats.org/drawingml/2006/main">
              <a:ext uri="{FF2B5EF4-FFF2-40B4-BE49-F238E27FC236}">
                <a16:creationId xmlns:a16="http://schemas.microsoft.com/office/drawing/2014/main" id="{484170B7-9C77-44BC-BAFE-EA255F006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" y="6035040"/>
            <a:ext cx="59436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800" b="1">
                <a:solidFill>
                  <a:srgbClr val="E30613"/>
                </a:solidFill>
                <a:latin typeface="Arial"/>
                <a:ea typeface="Arial"/>
                <a:cs typeface="Arial"/>
              </a:rPr>
              <a:t>INSIGHT</a:t>
            </a:r>
          </a:p>
        </p:txBody>
      </p:sp>
      <p:sp>
        <p:nvSpPr>
          <p:cNvPr id="32" name="TextBox 31">
            <a:extLst xmlns:a="http://schemas.openxmlformats.org/drawingml/2006/main">
              <a:ext uri="{FF2B5EF4-FFF2-40B4-BE49-F238E27FC236}">
                <a16:creationId xmlns:a16="http://schemas.microsoft.com/office/drawing/2014/main" id="{6ADF32D0-A4B3-436E-8B06-B303CB9A2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6035040"/>
            <a:ext cx="57150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Quem começou no skincare acessível passa a exigir resultados comprovados, sem aceitar uma rotina mais complexa.</a:t>
            </a:r>
          </a:p>
        </p:txBody>
      </p:sp>
      <p:sp>
        <p:nvSpPr>
          <p:cNvPr id="33" name="Rounded Rectangle 32">
            <a:extLst xmlns:a="http://schemas.openxmlformats.org/drawingml/2006/main">
              <a:ext uri="{FF2B5EF4-FFF2-40B4-BE49-F238E27FC236}">
                <a16:creationId xmlns:a16="http://schemas.microsoft.com/office/drawing/2014/main" id="{4A39431F-16CC-4562-A24D-91DCC0613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048" y="6656832"/>
            <a:ext cx="2203703" cy="1874519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7F6F2"/>
          </a:solidFill>
          <a:ln xmlns:a="http://schemas.openxmlformats.org/drawingml/2006/main">
            <a:solidFill>
              <a:srgbClr val="D8D5CC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4" name="TextBox 33">
            <a:extLst xmlns:a="http://schemas.openxmlformats.org/drawingml/2006/main">
              <a:ext uri="{FF2B5EF4-FFF2-40B4-BE49-F238E27FC236}">
                <a16:creationId xmlns:a16="http://schemas.microsoft.com/office/drawing/2014/main" id="{002DEF8A-07E9-4871-B98E-50E1FC5F8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839712"/>
            <a:ext cx="1965959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900" b="1">
                <a:solidFill>
                  <a:srgbClr val="E30613"/>
                </a:solidFill>
                <a:latin typeface="Arial"/>
                <a:ea typeface="Arial"/>
                <a:cs typeface="Arial"/>
              </a:rPr>
              <a:t>O CONSUMIDOR</a:t>
            </a:r>
          </a:p>
        </p:txBody>
      </p:sp>
      <p:sp>
        <p:nvSpPr>
          <p:cNvPr id="35" name="TextBox 34">
            <a:extLst xmlns:a="http://schemas.openxmlformats.org/drawingml/2006/main">
              <a:ext uri="{FF2B5EF4-FFF2-40B4-BE49-F238E27FC236}">
                <a16:creationId xmlns:a16="http://schemas.microsoft.com/office/drawing/2014/main" id="{B09D0B2D-C765-4627-AF83-0B23FEC51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7150608"/>
            <a:ext cx="1965959" cy="1143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840" b="0">
                <a:solidFill>
                  <a:srgbClr val="151515"/>
                </a:solidFill>
                <a:latin typeface="Arial"/>
                <a:ea typeface="Arial"/>
                <a:cs typeface="Arial"/>
              </a:rPr>
              <a:t>Já conhece ativos e compara fórmulas, mas ainda quer orientação simples, preço alcançável e uso diário.</a:t>
            </a:r>
          </a:p>
        </p:txBody>
      </p:sp>
      <p:sp>
        <p:nvSpPr>
          <p:cNvPr id="36" name="Rounded Rectangle 35">
            <a:extLst xmlns:a="http://schemas.openxmlformats.org/drawingml/2006/main">
              <a:ext uri="{FF2B5EF4-FFF2-40B4-BE49-F238E27FC236}">
                <a16:creationId xmlns:a16="http://schemas.microsoft.com/office/drawing/2014/main" id="{CD2D2910-DC90-46AB-9DC0-1F6F29688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79191" y="6656832"/>
            <a:ext cx="2203703" cy="1874519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7F6F2"/>
          </a:solidFill>
          <a:ln xmlns:a="http://schemas.openxmlformats.org/drawingml/2006/main">
            <a:solidFill>
              <a:srgbClr val="D8D5CC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7" name="TextBox 36">
            <a:extLst xmlns:a="http://schemas.openxmlformats.org/drawingml/2006/main">
              <a:ext uri="{FF2B5EF4-FFF2-40B4-BE49-F238E27FC236}">
                <a16:creationId xmlns:a16="http://schemas.microsoft.com/office/drawing/2014/main" id="{166CD2A8-2212-477D-B73F-9E712D9F3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8063" y="6839712"/>
            <a:ext cx="1965959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900" b="1">
                <a:solidFill>
                  <a:srgbClr val="E30613"/>
                </a:solidFill>
                <a:latin typeface="Arial"/>
                <a:ea typeface="Arial"/>
                <a:cs typeface="Arial"/>
              </a:rPr>
              <a:t>A PROMESSA</a:t>
            </a:r>
          </a:p>
        </p:txBody>
      </p:sp>
      <p:sp>
        <p:nvSpPr>
          <p:cNvPr id="38" name="TextBox 37">
            <a:extLst xmlns:a="http://schemas.openxmlformats.org/drawingml/2006/main">
              <a:ext uri="{FF2B5EF4-FFF2-40B4-BE49-F238E27FC236}">
                <a16:creationId xmlns:a16="http://schemas.microsoft.com/office/drawing/2014/main" id="{14ED4998-EF36-478B-B07A-2536B15F5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8063" y="7150608"/>
            <a:ext cx="1965959" cy="1143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840" b="0">
                <a:solidFill>
                  <a:srgbClr val="151515"/>
                </a:solidFill>
                <a:latin typeface="Arial"/>
                <a:ea typeface="Arial"/>
                <a:cs typeface="Arial"/>
              </a:rPr>
              <a:t>Correção de marcas com tolerância comprovada, orientação de uso e preço de entrada na categoria.</a:t>
            </a:r>
          </a:p>
        </p:txBody>
      </p:sp>
      <p:sp>
        <p:nvSpPr>
          <p:cNvPr id="39" name="Rounded Rectangle 38">
            <a:extLst xmlns:a="http://schemas.openxmlformats.org/drawingml/2006/main">
              <a:ext uri="{FF2B5EF4-FFF2-40B4-BE49-F238E27FC236}">
                <a16:creationId xmlns:a16="http://schemas.microsoft.com/office/drawing/2014/main" id="{52B88A89-D20B-4C41-AB08-29DCA1EC4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4336" y="6656832"/>
            <a:ext cx="2203703" cy="1874519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7F6F2"/>
          </a:solidFill>
          <a:ln xmlns:a="http://schemas.openxmlformats.org/drawingml/2006/main">
            <a:solidFill>
              <a:srgbClr val="D8D5CC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0" name="TextBox 39">
            <a:extLst xmlns:a="http://schemas.openxmlformats.org/drawingml/2006/main">
              <a:ext uri="{FF2B5EF4-FFF2-40B4-BE49-F238E27FC236}">
                <a16:creationId xmlns:a16="http://schemas.microsoft.com/office/drawing/2014/main" id="{86DDA8BB-F7D2-4DD3-8C4D-C15E1037A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3207" y="6839712"/>
            <a:ext cx="1965959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900" b="1">
                <a:solidFill>
                  <a:srgbClr val="E30613"/>
                </a:solidFill>
                <a:latin typeface="Arial"/>
                <a:ea typeface="Arial"/>
                <a:cs typeface="Arial"/>
              </a:rPr>
              <a:t>O DIFERENCIAL</a:t>
            </a:r>
          </a:p>
        </p:txBody>
      </p:sp>
      <p:sp>
        <p:nvSpPr>
          <p:cNvPr id="41" name="TextBox 40">
            <a:extLst xmlns:a="http://schemas.openxmlformats.org/drawingml/2006/main">
              <a:ext uri="{FF2B5EF4-FFF2-40B4-BE49-F238E27FC236}">
                <a16:creationId xmlns:a16="http://schemas.microsoft.com/office/drawing/2014/main" id="{D173EB9D-4CB0-4E34-8918-304E3C3F1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3207" y="7150608"/>
            <a:ext cx="1965959" cy="1143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840" b="0">
                <a:solidFill>
                  <a:srgbClr val="151515"/>
                </a:solidFill>
                <a:latin typeface="Arial"/>
                <a:ea typeface="Arial"/>
                <a:cs typeface="Arial"/>
              </a:rPr>
              <a:t>A porta de entrada da Beleza Dermatológica: rigor de prova e linguagem simples, sem competir com tratamentos especializados.</a:t>
            </a:r>
          </a:p>
        </p:txBody>
      </p:sp>
      <p:sp>
        <p:nvSpPr>
          <p:cNvPr id="42" name="TextBox 41">
            <a:extLst xmlns:a="http://schemas.openxmlformats.org/drawingml/2006/main">
              <a:ext uri="{FF2B5EF4-FFF2-40B4-BE49-F238E27FC236}">
                <a16:creationId xmlns:a16="http://schemas.microsoft.com/office/drawing/2014/main" id="{00801BA9-0536-4F20-87B4-C31D29924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048" y="10241280"/>
            <a:ext cx="6217920" cy="1463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700" b="1">
                <a:solidFill>
                  <a:srgbClr val="555555"/>
                </a:solidFill>
                <a:latin typeface="Arial"/>
                <a:ea typeface="Arial"/>
                <a:cs typeface="Arial"/>
              </a:rPr>
              <a:t>REIMAGINE UM PRODUTO  |  PROPOSTA CONCEITUAL</a:t>
            </a:r>
          </a:p>
        </p:txBody>
      </p:sp>
    </p:spTree>
    <p:extLst>
      <p:ext uri="{BB962C8B-B14F-4D97-AF65-F5344CB8AC3E}">
        <p14:creationId xmlns:p14="http://schemas.microsoft.com/office/powerpoint/2010/main" val="135684879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E9E7D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ounded Rectangle 1">
            <a:extLst xmlns:a="http://schemas.openxmlformats.org/drawingml/2006/main">
              <a:ext uri="{FF2B5EF4-FFF2-40B4-BE49-F238E27FC236}">
                <a16:creationId xmlns:a16="http://schemas.microsoft.com/office/drawing/2014/main" id="{110AA6B1-E151-4685-81A7-F759F38E3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" y="137160"/>
            <a:ext cx="7287768" cy="10415016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9E7DF"/>
          </a:solidFill>
          <a:ln xmlns:a="http://schemas.openxmlformats.org/drawingml/2006/main">
            <a:solidFill>
              <a:srgbClr val="D8D5CC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4282C23A-2707-403F-AEEE-30C5D0500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048" y="438912"/>
            <a:ext cx="128016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00" b="1">
                <a:solidFill>
                  <a:srgbClr val="151515"/>
                </a:solidFill>
                <a:latin typeface="Arial"/>
                <a:ea typeface="Arial"/>
                <a:cs typeface="Arial"/>
              </a:rPr>
              <a:t>L’ORÉAL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705BE65C-9C4C-49D6-B159-801183567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048" y="676656"/>
            <a:ext cx="109728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900" b="1">
                <a:solidFill>
                  <a:srgbClr val="E30613"/>
                </a:solidFill>
                <a:latin typeface="Arial"/>
                <a:ea typeface="Arial"/>
                <a:cs typeface="Arial"/>
              </a:rPr>
              <a:t>SEEDZ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90E19CD9-873F-41BB-8676-94468B945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530352"/>
            <a:ext cx="45720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700" b="1">
                <a:solidFill>
                  <a:srgbClr val="E30613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75027DC1-2FEA-42C3-8E1B-E57388D89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048" y="1051560"/>
            <a:ext cx="438912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900" b="1">
                <a:solidFill>
                  <a:srgbClr val="E30613"/>
                </a:solidFill>
                <a:latin typeface="Arial"/>
                <a:ea typeface="Arial"/>
                <a:cs typeface="Arial"/>
              </a:rPr>
              <a:t>DA IDEIA À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5002E2D8-E150-400F-A404-65F6E0EE9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048" y="1481328"/>
            <a:ext cx="438912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900" b="1">
                <a:solidFill>
                  <a:srgbClr val="E30613"/>
                </a:solidFill>
                <a:latin typeface="Arial"/>
                <a:ea typeface="Arial"/>
                <a:cs typeface="Arial"/>
              </a:rPr>
              <a:t>ESTRATÉGIA</a:t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2406D281-33E4-4016-AEDD-77CA81158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048" y="1847088"/>
            <a:ext cx="438912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100" b="1">
                <a:solidFill>
                  <a:srgbClr val="151515"/>
                </a:solidFill>
                <a:latin typeface="Arial"/>
                <a:ea typeface="Arial"/>
                <a:cs typeface="Arial"/>
              </a:rPr>
              <a:t>COMO A PROPOSTA CRIA VALOR</a:t>
            </a:r>
          </a:p>
        </p:txBody>
      </p:sp>
      <p:sp>
        <p:nvSpPr>
          <p:cNvPr id="9" name="Rounded Rectangle 8">
            <a:extLst xmlns:a="http://schemas.openxmlformats.org/drawingml/2006/main">
              <a:ext uri="{FF2B5EF4-FFF2-40B4-BE49-F238E27FC236}">
                <a16:creationId xmlns:a16="http://schemas.microsoft.com/office/drawing/2014/main" id="{B597ED27-59A1-4C9D-A5C7-2CC160950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048" y="2240280"/>
            <a:ext cx="6793992" cy="224028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FFFFFF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3666F295-C522-42B3-BC0B-8E063C8C6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" y="2487168"/>
            <a:ext cx="36576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 b="1">
                <a:solidFill>
                  <a:srgbClr val="151515"/>
                </a:solidFill>
                <a:latin typeface="Arial"/>
                <a:ea typeface="Arial"/>
                <a:cs typeface="Arial"/>
              </a:rPr>
              <a:t>DECISÕES ESTRATÉGICAS</a:t>
            </a: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A55FFE13-5BD5-4A16-94AC-233D9B15B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" y="2907792"/>
            <a:ext cx="256032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850" b="1">
                <a:solidFill>
                  <a:srgbClr val="E30613"/>
                </a:solidFill>
                <a:latin typeface="Arial"/>
                <a:ea typeface="Arial"/>
                <a:cs typeface="Arial"/>
              </a:rPr>
              <a:t>O QUE PERMANECE</a:t>
            </a: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34EB7E2F-A6B0-4A57-9C05-FBA08C070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" y="3136392"/>
            <a:ext cx="274320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869" b="0">
                <a:solidFill>
                  <a:srgbClr val="151515"/>
                </a:solidFill>
                <a:latin typeface="Arial"/>
                <a:ea typeface="Arial"/>
                <a:cs typeface="Arial"/>
              </a:rPr>
              <a:t>Preço alcançável, textura leve, uso diário e linguagem direta. Vitamina C e niacinamida continuam no centro da fórmula.</a:t>
            </a:r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8C9A751C-9C96-42AB-A341-996CC6053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2907792"/>
            <a:ext cx="256032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850" b="1">
                <a:solidFill>
                  <a:srgbClr val="E30613"/>
                </a:solidFill>
                <a:latin typeface="Arial"/>
                <a:ea typeface="Arial"/>
                <a:cs typeface="Arial"/>
              </a:rPr>
              <a:t>O QUE MUDA</a:t>
            </a:r>
          </a:p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0DE88627-1BD8-41FA-BCA8-593F2E12A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3136392"/>
            <a:ext cx="2743200" cy="777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869" b="0">
                <a:solidFill>
                  <a:srgbClr val="151515"/>
                </a:solidFill>
                <a:latin typeface="Arial"/>
                <a:ea typeface="Arial"/>
                <a:cs typeface="Arial"/>
              </a:rPr>
              <a:t>Validação clínica, avaliação de tolerância e embalagem airless. A venda migra para farmácias e e-commerce com orientação especializada.</a:t>
            </a:r>
          </a:p>
        </p:txBody>
      </p:sp>
      <p:sp>
        <p:nvSpPr>
          <p:cNvPr id="15" name="TextBox 14">
            <a:extLst xmlns:a="http://schemas.openxmlformats.org/drawingml/2006/main">
              <a:ext uri="{FF2B5EF4-FFF2-40B4-BE49-F238E27FC236}">
                <a16:creationId xmlns:a16="http://schemas.microsoft.com/office/drawing/2014/main" id="{C088997E-1589-41F0-9735-25E0F886E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" y="3968496"/>
            <a:ext cx="91440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00" b="1">
                <a:solidFill>
                  <a:srgbClr val="151515"/>
                </a:solidFill>
                <a:latin typeface="Arial"/>
                <a:ea typeface="Arial"/>
                <a:cs typeface="Arial"/>
              </a:rPr>
              <a:t>GARNIER</a:t>
            </a:r>
          </a:p>
        </p:txBody>
      </p:sp>
      <p:sp>
        <p:nvSpPr>
          <p:cNvPr id="16" name="TextBox 15">
            <a:extLst xmlns:a="http://schemas.openxmlformats.org/drawingml/2006/main">
              <a:ext uri="{FF2B5EF4-FFF2-40B4-BE49-F238E27FC236}">
                <a16:creationId xmlns:a16="http://schemas.microsoft.com/office/drawing/2014/main" id="{6AFC8EC1-4111-41F8-A88D-91C297CF5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0472" y="3931920"/>
            <a:ext cx="27432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700" b="1">
                <a:solidFill>
                  <a:srgbClr val="E30613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7" name="TextBox 16">
            <a:extLst xmlns:a="http://schemas.openxmlformats.org/drawingml/2006/main">
              <a:ext uri="{FF2B5EF4-FFF2-40B4-BE49-F238E27FC236}">
                <a16:creationId xmlns:a16="http://schemas.microsoft.com/office/drawing/2014/main" id="{4EC28987-6B3F-447D-885D-87B348495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10512" y="3968496"/>
            <a:ext cx="1417320" cy="396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00" b="1">
                <a:solidFill>
                  <a:srgbClr val="151515"/>
                </a:solidFill>
                <a:latin typeface="Arial"/>
                <a:ea typeface="Arial"/>
                <a:cs typeface="Arial"/>
              </a:rPr>
              <a:t>DERMA C+ CORRETOR</a:t>
            </a:r>
          </a:p>
        </p:txBody>
      </p:sp>
      <p:sp>
        <p:nvSpPr>
          <p:cNvPr id="18" name="TextBox 17">
            <a:extLst xmlns:a="http://schemas.openxmlformats.org/drawingml/2006/main">
              <a:ext uri="{FF2B5EF4-FFF2-40B4-BE49-F238E27FC236}">
                <a16:creationId xmlns:a16="http://schemas.microsoft.com/office/drawing/2014/main" id="{EBEF5D89-E132-499D-9938-2D058F03F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3552" y="3931920"/>
            <a:ext cx="27432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700" b="1">
                <a:solidFill>
                  <a:srgbClr val="E30613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9" name="TextBox 18">
            <a:extLst xmlns:a="http://schemas.openxmlformats.org/drawingml/2006/main">
              <a:ext uri="{FF2B5EF4-FFF2-40B4-BE49-F238E27FC236}">
                <a16:creationId xmlns:a16="http://schemas.microsoft.com/office/drawing/2014/main" id="{42651D45-4D41-4053-A242-1B78E9ABA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3592" y="3968496"/>
            <a:ext cx="2468880" cy="2438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00" b="1">
                <a:solidFill>
                  <a:srgbClr val="151515"/>
                </a:solidFill>
                <a:latin typeface="Arial"/>
                <a:ea typeface="Arial"/>
                <a:cs typeface="Arial"/>
              </a:rPr>
              <a:t>ENTRADA EM DERMOCOSMÉTICOS</a:t>
            </a:r>
          </a:p>
        </p:txBody>
      </p:sp>
      <p:sp>
        <p:nvSpPr>
          <p:cNvPr id="20" name="TextBox 19">
            <a:extLst xmlns:a="http://schemas.openxmlformats.org/drawingml/2006/main">
              <a:ext uri="{FF2B5EF4-FFF2-40B4-BE49-F238E27FC236}">
                <a16:creationId xmlns:a16="http://schemas.microsoft.com/office/drawing/2014/main" id="{7CA559DC-50D3-44D1-A2EC-91A72FCAE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" y="4187952"/>
            <a:ext cx="621792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840" b="0">
                <a:solidFill>
                  <a:srgbClr val="555555"/>
                </a:solidFill>
                <a:latin typeface="Arial"/>
                <a:ea typeface="Arial"/>
                <a:cs typeface="Arial"/>
              </a:rPr>
              <a:t>A nova proposta acompanha o consumidor que busca mais eficácia, sem abandonar a simplicidade que o trouxe à Garnier.</a:t>
            </a:r>
          </a:p>
        </p:txBody>
      </p:sp>
      <p:sp>
        <p:nvSpPr>
          <p:cNvPr id="21" name="Rounded Rectangle 20">
            <a:extLst xmlns:a="http://schemas.openxmlformats.org/drawingml/2006/main">
              <a:ext uri="{FF2B5EF4-FFF2-40B4-BE49-F238E27FC236}">
                <a16:creationId xmlns:a16="http://schemas.microsoft.com/office/drawing/2014/main" id="{A8B6763F-4B25-4CA3-8A29-E9223E39A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048" y="4709160"/>
            <a:ext cx="6793992" cy="84124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51515"/>
          </a:solidFill>
          <a:ln xmlns:a="http://schemas.openxmlformats.org/drawingml/2006/main">
            <a:solidFill>
              <a:srgbClr val="151515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2" name="TextBox 21">
            <a:extLst xmlns:a="http://schemas.openxmlformats.org/drawingml/2006/main">
              <a:ext uri="{FF2B5EF4-FFF2-40B4-BE49-F238E27FC236}">
                <a16:creationId xmlns:a16="http://schemas.microsoft.com/office/drawing/2014/main" id="{AC6FFA2F-BF63-4A94-8AD7-DCC29A95C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" y="4882896"/>
            <a:ext cx="91440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800" b="1">
                <a:solidFill>
                  <a:srgbClr val="E30613"/>
                </a:solidFill>
                <a:latin typeface="Arial"/>
                <a:ea typeface="Arial"/>
                <a:cs typeface="Arial"/>
              </a:rPr>
              <a:t>CAMPANHA</a:t>
            </a:r>
          </a:p>
        </p:txBody>
      </p:sp>
      <p:sp>
        <p:nvSpPr>
          <p:cNvPr id="23" name="TextBox 22">
            <a:extLst xmlns:a="http://schemas.openxmlformats.org/drawingml/2006/main">
              <a:ext uri="{FF2B5EF4-FFF2-40B4-BE49-F238E27FC236}">
                <a16:creationId xmlns:a16="http://schemas.microsoft.com/office/drawing/2014/main" id="{DACB4863-8DE7-4C0D-A4A4-56953AE5A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" y="5120640"/>
            <a:ext cx="3657600" cy="350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7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TRATAMENTO DIÁRIO</a:t>
            </a:r>
          </a:p>
        </p:txBody>
      </p:sp>
      <p:sp>
        <p:nvSpPr>
          <p:cNvPr id="24" name="TextBox 23">
            <a:extLst xmlns:a="http://schemas.openxmlformats.org/drawingml/2006/main">
              <a:ext uri="{FF2B5EF4-FFF2-40B4-BE49-F238E27FC236}">
                <a16:creationId xmlns:a16="http://schemas.microsoft.com/office/drawing/2014/main" id="{D660C009-4B84-4971-A533-596FCD613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" y="5358384"/>
            <a:ext cx="3840480" cy="350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7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PARA MARCAS PÓS-ACNE.</a:t>
            </a:r>
          </a:p>
        </p:txBody>
      </p:sp>
      <p:sp>
        <p:nvSpPr>
          <p:cNvPr id="25" name="TextBox 24">
            <a:extLst xmlns:a="http://schemas.openxmlformats.org/drawingml/2006/main">
              <a:ext uri="{FF2B5EF4-FFF2-40B4-BE49-F238E27FC236}">
                <a16:creationId xmlns:a16="http://schemas.microsoft.com/office/drawing/2014/main" id="{0857A8F9-257C-480E-ADF4-890DAAE20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7720" y="5120640"/>
            <a:ext cx="201168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850" b="1">
                <a:solidFill>
                  <a:srgbClr val="E30613"/>
                </a:solidFill>
                <a:latin typeface="Arial"/>
                <a:ea typeface="Arial"/>
                <a:cs typeface="Arial"/>
              </a:rPr>
              <a:t>EFICÁCIA CLÍNICA.
ROTINA SIMPLES.</a:t>
            </a:r>
          </a:p>
        </p:txBody>
      </p:sp>
      <p:sp>
        <p:nvSpPr>
          <p:cNvPr id="26" name="Rounded Rectangle 25">
            <a:extLst xmlns:a="http://schemas.openxmlformats.org/drawingml/2006/main">
              <a:ext uri="{FF2B5EF4-FFF2-40B4-BE49-F238E27FC236}">
                <a16:creationId xmlns:a16="http://schemas.microsoft.com/office/drawing/2014/main" id="{B5BFF87A-4974-4204-82C7-2935109DB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048" y="5833872"/>
            <a:ext cx="2203703" cy="324612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7F6F2"/>
          </a:solidFill>
          <a:ln xmlns:a="http://schemas.openxmlformats.org/drawingml/2006/main">
            <a:solidFill>
              <a:srgbClr val="D8D5CC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7" name="TextBox 26">
            <a:extLst xmlns:a="http://schemas.openxmlformats.org/drawingml/2006/main">
              <a:ext uri="{FF2B5EF4-FFF2-40B4-BE49-F238E27FC236}">
                <a16:creationId xmlns:a16="http://schemas.microsoft.com/office/drawing/2014/main" id="{D0F18A17-EC1C-48C3-9F3D-7206525FA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053328"/>
            <a:ext cx="1965959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950" b="1">
                <a:solidFill>
                  <a:srgbClr val="E30613"/>
                </a:solidFill>
                <a:latin typeface="Arial"/>
                <a:ea typeface="Arial"/>
                <a:cs typeface="Arial"/>
              </a:rPr>
              <a:t>IMPACTOS</a:t>
            </a:r>
          </a:p>
        </p:txBody>
      </p:sp>
      <p:sp>
        <p:nvSpPr>
          <p:cNvPr id="28" name="TextBox 27">
            <a:extLst xmlns:a="http://schemas.openxmlformats.org/drawingml/2006/main">
              <a:ext uri="{FF2B5EF4-FFF2-40B4-BE49-F238E27FC236}">
                <a16:creationId xmlns:a16="http://schemas.microsoft.com/office/drawing/2014/main" id="{86F3D01C-2A68-472B-93D2-10EA2AF9E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437376"/>
            <a:ext cx="1965959" cy="1554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750" b="1">
                <a:solidFill>
                  <a:srgbClr val="151515"/>
                </a:solidFill>
                <a:latin typeface="Arial"/>
                <a:ea typeface="Arial"/>
                <a:cs typeface="Arial"/>
              </a:rPr>
              <a:t>CONSUMIDOR</a:t>
            </a:r>
          </a:p>
        </p:txBody>
      </p:sp>
      <p:sp>
        <p:nvSpPr>
          <p:cNvPr id="29" name="TextBox 28">
            <a:extLst xmlns:a="http://schemas.openxmlformats.org/drawingml/2006/main">
              <a:ext uri="{FF2B5EF4-FFF2-40B4-BE49-F238E27FC236}">
                <a16:creationId xmlns:a16="http://schemas.microsoft.com/office/drawing/2014/main" id="{0D41A2AC-4056-4B8C-8A98-BE9F3C48B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620256"/>
            <a:ext cx="1965959" cy="5303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770" b="0">
                <a:solidFill>
                  <a:srgbClr val="555555"/>
                </a:solidFill>
                <a:latin typeface="Arial"/>
                <a:ea typeface="Arial"/>
                <a:cs typeface="Arial"/>
              </a:rPr>
              <a:t>Mais segurança na escolha, instruções claras e uma rotina simples para tratar marcas.</a:t>
            </a:r>
          </a:p>
        </p:txBody>
      </p:sp>
      <p:sp>
        <p:nvSpPr>
          <p:cNvPr id="30" name="TextBox 29">
            <a:extLst xmlns:a="http://schemas.openxmlformats.org/drawingml/2006/main">
              <a:ext uri="{FF2B5EF4-FFF2-40B4-BE49-F238E27FC236}">
                <a16:creationId xmlns:a16="http://schemas.microsoft.com/office/drawing/2014/main" id="{01D047C9-D18B-4C89-8DCC-F7367D334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7278624"/>
            <a:ext cx="1965959" cy="1554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750" b="1">
                <a:solidFill>
                  <a:srgbClr val="151515"/>
                </a:solidFill>
                <a:latin typeface="Arial"/>
                <a:ea typeface="Arial"/>
                <a:cs typeface="Arial"/>
              </a:rPr>
              <a:t>GARNIER</a:t>
            </a:r>
          </a:p>
        </p:txBody>
      </p:sp>
      <p:sp>
        <p:nvSpPr>
          <p:cNvPr id="31" name="TextBox 30">
            <a:extLst xmlns:a="http://schemas.openxmlformats.org/drawingml/2006/main">
              <a:ext uri="{FF2B5EF4-FFF2-40B4-BE49-F238E27FC236}">
                <a16:creationId xmlns:a16="http://schemas.microsoft.com/office/drawing/2014/main" id="{13623125-A481-432E-8E18-29FF3AA3C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7461504"/>
            <a:ext cx="1965959" cy="5303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770" b="0">
                <a:solidFill>
                  <a:srgbClr val="555555"/>
                </a:solidFill>
                <a:latin typeface="Arial"/>
                <a:ea typeface="Arial"/>
                <a:cs typeface="Arial"/>
              </a:rPr>
              <a:t>Maior ticket médio e credibilidade no canal farma, com uma porta de entrada para a categoria.</a:t>
            </a:r>
          </a:p>
        </p:txBody>
      </p:sp>
      <p:sp>
        <p:nvSpPr>
          <p:cNvPr id="32" name="TextBox 31">
            <a:extLst xmlns:a="http://schemas.openxmlformats.org/drawingml/2006/main">
              <a:ext uri="{FF2B5EF4-FFF2-40B4-BE49-F238E27FC236}">
                <a16:creationId xmlns:a16="http://schemas.microsoft.com/office/drawing/2014/main" id="{D4A34FFC-D73E-4382-A055-21FD97C3B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8119872"/>
            <a:ext cx="1965959" cy="1554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750" b="1">
                <a:solidFill>
                  <a:srgbClr val="151515"/>
                </a:solidFill>
                <a:latin typeface="Arial"/>
                <a:ea typeface="Arial"/>
                <a:cs typeface="Arial"/>
              </a:rPr>
              <a:t>L’ORÉAL</a:t>
            </a:r>
          </a:p>
        </p:txBody>
      </p:sp>
      <p:sp>
        <p:nvSpPr>
          <p:cNvPr id="33" name="TextBox 32">
            <a:extLst xmlns:a="http://schemas.openxmlformats.org/drawingml/2006/main">
              <a:ext uri="{FF2B5EF4-FFF2-40B4-BE49-F238E27FC236}">
                <a16:creationId xmlns:a16="http://schemas.microsoft.com/office/drawing/2014/main" id="{899289C4-556E-47C8-B092-AAC8BB5FD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8302752"/>
            <a:ext cx="1965959" cy="5303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770" b="0">
                <a:solidFill>
                  <a:srgbClr val="555555"/>
                </a:solidFill>
                <a:latin typeface="Arial"/>
                <a:ea typeface="Arial"/>
                <a:cs typeface="Arial"/>
              </a:rPr>
              <a:t>Retém o consumidor antes que ele migre para marcas dermatológicas fora do grupo.</a:t>
            </a:r>
          </a:p>
        </p:txBody>
      </p:sp>
      <p:sp>
        <p:nvSpPr>
          <p:cNvPr id="34" name="Rounded Rectangle 33">
            <a:extLst xmlns:a="http://schemas.openxmlformats.org/drawingml/2006/main">
              <a:ext uri="{FF2B5EF4-FFF2-40B4-BE49-F238E27FC236}">
                <a16:creationId xmlns:a16="http://schemas.microsoft.com/office/drawing/2014/main" id="{F584B9F4-98D8-41F8-8E46-655C5EBD3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79191" y="5833872"/>
            <a:ext cx="2203703" cy="324612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7F6F2"/>
          </a:solidFill>
          <a:ln xmlns:a="http://schemas.openxmlformats.org/drawingml/2006/main">
            <a:solidFill>
              <a:srgbClr val="D8D5CC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5" name="TextBox 34">
            <a:extLst xmlns:a="http://schemas.openxmlformats.org/drawingml/2006/main">
              <a:ext uri="{FF2B5EF4-FFF2-40B4-BE49-F238E27FC236}">
                <a16:creationId xmlns:a16="http://schemas.microsoft.com/office/drawing/2014/main" id="{6DA5696E-DDC1-4534-8372-CD296AE27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8063" y="6053328"/>
            <a:ext cx="1965959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950" b="1">
                <a:solidFill>
                  <a:srgbClr val="E30613"/>
                </a:solidFill>
                <a:latin typeface="Arial"/>
                <a:ea typeface="Arial"/>
                <a:cs typeface="Arial"/>
              </a:rPr>
              <a:t>RISCOS</a:t>
            </a:r>
          </a:p>
        </p:txBody>
      </p:sp>
      <p:sp>
        <p:nvSpPr>
          <p:cNvPr id="36" name="TextBox 35">
            <a:extLst xmlns:a="http://schemas.openxmlformats.org/drawingml/2006/main">
              <a:ext uri="{FF2B5EF4-FFF2-40B4-BE49-F238E27FC236}">
                <a16:creationId xmlns:a16="http://schemas.microsoft.com/office/drawing/2014/main" id="{261B9008-364D-44AD-8DEF-79318392B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8063" y="6437376"/>
            <a:ext cx="1965959" cy="1554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750" b="1">
                <a:solidFill>
                  <a:srgbClr val="151515"/>
                </a:solidFill>
                <a:latin typeface="Arial"/>
                <a:ea typeface="Arial"/>
                <a:cs typeface="Arial"/>
              </a:rPr>
              <a:t>IDENTIDADE</a:t>
            </a:r>
          </a:p>
        </p:txBody>
      </p:sp>
      <p:sp>
        <p:nvSpPr>
          <p:cNvPr id="37" name="TextBox 36">
            <a:extLst xmlns:a="http://schemas.openxmlformats.org/drawingml/2006/main">
              <a:ext uri="{FF2B5EF4-FFF2-40B4-BE49-F238E27FC236}">
                <a16:creationId xmlns:a16="http://schemas.microsoft.com/office/drawing/2014/main" id="{1695B064-2C06-41A3-9161-89F9F8D7E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8063" y="6620256"/>
            <a:ext cx="1965959" cy="5303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770" b="0">
                <a:solidFill>
                  <a:srgbClr val="555555"/>
                </a:solidFill>
                <a:latin typeface="Arial"/>
                <a:ea typeface="Arial"/>
                <a:cs typeface="Arial"/>
              </a:rPr>
              <a:t>A linguagem clínica pode enfraquecer o vínculo acessível e próximo da Garnier.</a:t>
            </a:r>
          </a:p>
        </p:txBody>
      </p:sp>
      <p:sp>
        <p:nvSpPr>
          <p:cNvPr id="38" name="TextBox 37">
            <a:extLst xmlns:a="http://schemas.openxmlformats.org/drawingml/2006/main">
              <a:ext uri="{FF2B5EF4-FFF2-40B4-BE49-F238E27FC236}">
                <a16:creationId xmlns:a16="http://schemas.microsoft.com/office/drawing/2014/main" id="{252DF61B-3905-47E9-A3FA-3E36327D8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8063" y="7278624"/>
            <a:ext cx="1965959" cy="1554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750" b="1">
                <a:solidFill>
                  <a:srgbClr val="151515"/>
                </a:solidFill>
                <a:latin typeface="Arial"/>
                <a:ea typeface="Arial"/>
                <a:cs typeface="Arial"/>
              </a:rPr>
              <a:t>CANIBALIZAÇÃO</a:t>
            </a:r>
          </a:p>
        </p:txBody>
      </p:sp>
      <p:sp>
        <p:nvSpPr>
          <p:cNvPr id="39" name="TextBox 38">
            <a:extLst xmlns:a="http://schemas.openxmlformats.org/drawingml/2006/main">
              <a:ext uri="{FF2B5EF4-FFF2-40B4-BE49-F238E27FC236}">
                <a16:creationId xmlns:a16="http://schemas.microsoft.com/office/drawing/2014/main" id="{5BEE4537-A2D7-4A3E-B8B0-7A8278C23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8063" y="7461504"/>
            <a:ext cx="1965959" cy="5303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770" b="0">
                <a:solidFill>
                  <a:srgbClr val="555555"/>
                </a:solidFill>
                <a:latin typeface="Arial"/>
                <a:ea typeface="Arial"/>
                <a:cs typeface="Arial"/>
              </a:rPr>
              <a:t>A nova linha pode sobrepor ofertas de CeraVe, Vichy e La Roche-Posay.</a:t>
            </a:r>
          </a:p>
        </p:txBody>
      </p:sp>
      <p:sp>
        <p:nvSpPr>
          <p:cNvPr id="40" name="TextBox 39">
            <a:extLst xmlns:a="http://schemas.openxmlformats.org/drawingml/2006/main">
              <a:ext uri="{FF2B5EF4-FFF2-40B4-BE49-F238E27FC236}">
                <a16:creationId xmlns:a16="http://schemas.microsoft.com/office/drawing/2014/main" id="{A5ECD15C-8EE1-4333-8DDA-FD9DD4C52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8063" y="8119872"/>
            <a:ext cx="1965959" cy="1554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750" b="1">
                <a:solidFill>
                  <a:srgbClr val="151515"/>
                </a:solidFill>
                <a:latin typeface="Arial"/>
                <a:ea typeface="Arial"/>
                <a:cs typeface="Arial"/>
              </a:rPr>
              <a:t>PROMESSA</a:t>
            </a:r>
          </a:p>
        </p:txBody>
      </p:sp>
      <p:sp>
        <p:nvSpPr>
          <p:cNvPr id="41" name="TextBox 40">
            <a:extLst xmlns:a="http://schemas.openxmlformats.org/drawingml/2006/main">
              <a:ext uri="{FF2B5EF4-FFF2-40B4-BE49-F238E27FC236}">
                <a16:creationId xmlns:a16="http://schemas.microsoft.com/office/drawing/2014/main" id="{F6DFDA33-3A14-406E-806B-D6D346C02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8063" y="8302752"/>
            <a:ext cx="1965959" cy="5303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770" b="0">
                <a:solidFill>
                  <a:srgbClr val="555555"/>
                </a:solidFill>
                <a:latin typeface="Arial"/>
                <a:ea typeface="Arial"/>
                <a:cs typeface="Arial"/>
              </a:rPr>
              <a:t>Claims exigem estudos robustos, avaliação de tolerância e comunicação regulatória precisa.</a:t>
            </a:r>
          </a:p>
        </p:txBody>
      </p:sp>
      <p:sp>
        <p:nvSpPr>
          <p:cNvPr id="42" name="Rounded Rectangle 41">
            <a:extLst xmlns:a="http://schemas.openxmlformats.org/drawingml/2006/main">
              <a:ext uri="{FF2B5EF4-FFF2-40B4-BE49-F238E27FC236}">
                <a16:creationId xmlns:a16="http://schemas.microsoft.com/office/drawing/2014/main" id="{2A5A743E-E8E2-4EF6-BF31-B09FAC8F8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4336" y="5833872"/>
            <a:ext cx="2203703" cy="324612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7F6F2"/>
          </a:solidFill>
          <a:ln xmlns:a="http://schemas.openxmlformats.org/drawingml/2006/main">
            <a:solidFill>
              <a:srgbClr val="D8D5CC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3" name="TextBox 42">
            <a:extLst xmlns:a="http://schemas.openxmlformats.org/drawingml/2006/main">
              <a:ext uri="{FF2B5EF4-FFF2-40B4-BE49-F238E27FC236}">
                <a16:creationId xmlns:a16="http://schemas.microsoft.com/office/drawing/2014/main" id="{7A1F554D-EBB7-4FF0-A4F6-3CDC2E5CE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3207" y="6053328"/>
            <a:ext cx="1965959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950" b="1">
                <a:solidFill>
                  <a:srgbClr val="E30613"/>
                </a:solidFill>
                <a:latin typeface="Arial"/>
                <a:ea typeface="Arial"/>
                <a:cs typeface="Arial"/>
              </a:rPr>
              <a:t>RESULTADOS ESPERADOS</a:t>
            </a:r>
          </a:p>
        </p:txBody>
      </p:sp>
      <p:sp>
        <p:nvSpPr>
          <p:cNvPr id="44" name="TextBox 43">
            <a:extLst xmlns:a="http://schemas.openxmlformats.org/drawingml/2006/main">
              <a:ext uri="{FF2B5EF4-FFF2-40B4-BE49-F238E27FC236}">
                <a16:creationId xmlns:a16="http://schemas.microsoft.com/office/drawing/2014/main" id="{10B24BF9-B111-4D3B-9110-821C1C18C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3207" y="6437376"/>
            <a:ext cx="1965959" cy="1554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750" b="1">
                <a:solidFill>
                  <a:srgbClr val="151515"/>
                </a:solidFill>
                <a:latin typeface="Arial"/>
                <a:ea typeface="Arial"/>
                <a:cs typeface="Arial"/>
              </a:rPr>
              <a:t>NEGÓCIO</a:t>
            </a:r>
          </a:p>
        </p:txBody>
      </p:sp>
      <p:sp>
        <p:nvSpPr>
          <p:cNvPr id="45" name="TextBox 44">
            <a:extLst xmlns:a="http://schemas.openxmlformats.org/drawingml/2006/main">
              <a:ext uri="{FF2B5EF4-FFF2-40B4-BE49-F238E27FC236}">
                <a16:creationId xmlns:a16="http://schemas.microsoft.com/office/drawing/2014/main" id="{2B513654-E36E-49E6-8B89-79B032AD7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3207" y="6620256"/>
            <a:ext cx="1965959" cy="5303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770" b="0">
                <a:solidFill>
                  <a:srgbClr val="555555"/>
                </a:solidFill>
                <a:latin typeface="Arial"/>
                <a:ea typeface="Arial"/>
                <a:cs typeface="Arial"/>
              </a:rPr>
              <a:t>Trade-up dentro da marca, com margem e ticket maiores sem abandonar o preço de entrada.</a:t>
            </a:r>
          </a:p>
        </p:txBody>
      </p:sp>
      <p:sp>
        <p:nvSpPr>
          <p:cNvPr id="46" name="TextBox 45">
            <a:extLst xmlns:a="http://schemas.openxmlformats.org/drawingml/2006/main">
              <a:ext uri="{FF2B5EF4-FFF2-40B4-BE49-F238E27FC236}">
                <a16:creationId xmlns:a16="http://schemas.microsoft.com/office/drawing/2014/main" id="{18E34E1A-DD10-4B75-A959-D3AFA88D7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3207" y="7278624"/>
            <a:ext cx="1965959" cy="1554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750" b="1">
                <a:solidFill>
                  <a:srgbClr val="151515"/>
                </a:solidFill>
                <a:latin typeface="Arial"/>
                <a:ea typeface="Arial"/>
                <a:cs typeface="Arial"/>
              </a:rPr>
              <a:t>MARCA</a:t>
            </a:r>
          </a:p>
        </p:txBody>
      </p:sp>
      <p:sp>
        <p:nvSpPr>
          <p:cNvPr id="47" name="TextBox 46">
            <a:extLst xmlns:a="http://schemas.openxmlformats.org/drawingml/2006/main">
              <a:ext uri="{FF2B5EF4-FFF2-40B4-BE49-F238E27FC236}">
                <a16:creationId xmlns:a16="http://schemas.microsoft.com/office/drawing/2014/main" id="{90B7D78C-FACB-45E2-AC40-BEAB9F4C3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3207" y="7461504"/>
            <a:ext cx="1965959" cy="5303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770" b="0">
                <a:solidFill>
                  <a:srgbClr val="555555"/>
                </a:solidFill>
                <a:latin typeface="Arial"/>
                <a:ea typeface="Arial"/>
                <a:cs typeface="Arial"/>
              </a:rPr>
              <a:t>Maior associação da Garnier com eficácia comprovada e cuidado dermatológico acessível.</a:t>
            </a:r>
          </a:p>
        </p:txBody>
      </p:sp>
      <p:sp>
        <p:nvSpPr>
          <p:cNvPr id="48" name="TextBox 47">
            <a:extLst xmlns:a="http://schemas.openxmlformats.org/drawingml/2006/main">
              <a:ext uri="{FF2B5EF4-FFF2-40B4-BE49-F238E27FC236}">
                <a16:creationId xmlns:a16="http://schemas.microsoft.com/office/drawing/2014/main" id="{3247E782-29D1-4EC6-9B26-5BE735A5D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3207" y="8119872"/>
            <a:ext cx="1965959" cy="1554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750" b="1">
                <a:solidFill>
                  <a:srgbClr val="151515"/>
                </a:solidFill>
                <a:latin typeface="Arial"/>
                <a:ea typeface="Arial"/>
                <a:cs typeface="Arial"/>
              </a:rPr>
              <a:t>CONSUMIDOR</a:t>
            </a:r>
          </a:p>
        </p:txBody>
      </p:sp>
      <p:sp>
        <p:nvSpPr>
          <p:cNvPr id="49" name="TextBox 48">
            <a:extLst xmlns:a="http://schemas.openxmlformats.org/drawingml/2006/main">
              <a:ext uri="{FF2B5EF4-FFF2-40B4-BE49-F238E27FC236}">
                <a16:creationId xmlns:a16="http://schemas.microsoft.com/office/drawing/2014/main" id="{2F5C41E5-DFB3-4E36-B779-2632F8530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3207" y="8302752"/>
            <a:ext cx="1965959" cy="5303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770" b="0">
                <a:solidFill>
                  <a:srgbClr val="555555"/>
                </a:solidFill>
                <a:latin typeface="Arial"/>
                <a:ea typeface="Arial"/>
                <a:cs typeface="Arial"/>
              </a:rPr>
              <a:t>Mais retenção e uma progressão clara para soluções especializadas do portfólio L’Oréal.</a:t>
            </a:r>
          </a:p>
        </p:txBody>
      </p:sp>
      <p:sp>
        <p:nvSpPr>
          <p:cNvPr id="50" name="Rounded Rectangle 49">
            <a:extLst xmlns:a="http://schemas.openxmlformats.org/drawingml/2006/main">
              <a:ext uri="{FF2B5EF4-FFF2-40B4-BE49-F238E27FC236}">
                <a16:creationId xmlns:a16="http://schemas.microsoft.com/office/drawing/2014/main" id="{265532AC-6344-4F87-8848-F51783637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048" y="9326880"/>
            <a:ext cx="6793992" cy="48463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30613"/>
          </a:solidFill>
          <a:ln xmlns:a="http://schemas.openxmlformats.org/drawingml/2006/main">
            <a:solidFill>
              <a:srgbClr val="E30613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1" name="TextBox 50">
            <a:extLst xmlns:a="http://schemas.openxmlformats.org/drawingml/2006/main">
              <a:ext uri="{FF2B5EF4-FFF2-40B4-BE49-F238E27FC236}">
                <a16:creationId xmlns:a16="http://schemas.microsoft.com/office/drawing/2014/main" id="{63ED7D6F-E80E-4E20-8030-FB143956F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048" y="9482328"/>
            <a:ext cx="6793992" cy="2514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0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DERMOCOSMÉTICO DE ENTRADA, COM A SIMPLICIDADE DA GARNIER.</a:t>
            </a:r>
          </a:p>
        </p:txBody>
      </p:sp>
      <p:sp>
        <p:nvSpPr>
          <p:cNvPr id="52" name="TextBox 51">
            <a:extLst xmlns:a="http://schemas.openxmlformats.org/drawingml/2006/main">
              <a:ext uri="{FF2B5EF4-FFF2-40B4-BE49-F238E27FC236}">
                <a16:creationId xmlns:a16="http://schemas.microsoft.com/office/drawing/2014/main" id="{A26E6F51-0B35-4715-A53A-42404CC54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048" y="10241280"/>
            <a:ext cx="6217920" cy="1463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680" b="1">
                <a:solidFill>
                  <a:srgbClr val="555555"/>
                </a:solidFill>
                <a:latin typeface="Arial"/>
                <a:ea typeface="Arial"/>
                <a:cs typeface="Arial"/>
              </a:rPr>
              <a:t>REIMAGINE UM PRODUTO  |  GARNIER → BELEZA DERMATOLÓGICA</a:t>
            </a:r>
          </a:p>
        </p:txBody>
      </p:sp>
    </p:spTree>
    <p:extLst>
      <p:ext uri="{BB962C8B-B14F-4D97-AF65-F5344CB8AC3E}">
        <p14:creationId xmlns:p14="http://schemas.microsoft.com/office/powerpoint/2010/main" val="88717331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2026-09-15T19:51:30.6970000Z</dcterms:created>
  <dcterms:modified xsi:type="dcterms:W3CDTF">2026-09-15T19:51:30.6970000Z</dcterms:modified>
</coreProperties>
</file>